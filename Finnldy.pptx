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3" r:id="rId7"/>
    <p:sldId id="261" r:id="rId8"/>
    <p:sldId id="262"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56D11E-031F-999A-FCD7-2D7AE1B53FBE}" v="200" dt="2026-06-16T19:36:30.117"/>
    <p1510:client id="{D3F034B7-64F4-44A1-904C-BC0EA20C8DC9}" v="235" dt="2026-06-17T06:02:50.044"/>
    <p1510:client id="{ECE3F680-FA64-888C-F454-C0EB914611C5}" v="2" dt="2026-06-16T19:29:22.122"/>
    <p1510:client id="{F6ED8BDB-563A-B77C-BFA4-24AAE7867327}" v="1" dt="2026-06-16T19:38:00.7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0" d="100"/>
          <a:sy n="100" d="100"/>
        </p:scale>
        <p:origin x="267"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18" Type="http://schemas.openxmlformats.org/officeDocument/2006/relationships/customXml" Target="../customXml/item3.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17"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13075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Wir starten mit unserem Projekt Finnldy. Finnldy ist eine App, die Gruppen helfen soll, schneller einen Film zu finden, auf den mehrere Personen Lust haben.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Die Präsentation ist bewusst kurz gehalten. Zuerst erklären wir die Idee, dann den Verlauf der App, danach die technische Architektur, die Aufgabenverteilung und am Ende zeigen wir die Demo.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Das Problem ist, dass Filmabende oft daran scheitern, dass niemand entscheiden will oder alle etwas anderes schauen möchten. Unsere Lösung ist Finnldy: Eine Lobby, gemeinsame Filter und ein Swipe-System. Wenn mindestens zwei Personen denselben Film liken, entsteht ein Match.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Der Verlauf ist bewusst einfach: Name eingeben, Filter auswählen, Lobby starten oder beitreten, dann swipen. Im Projekt gibt es dafür mehrere WPF-Fenster, also ist die Mindestanforderung von mindestens drei Fenstern erfüllt.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Technisch ist Finnldy in mehrere Bereiche getrennt. Die UI ist für die Darstellung da. Die Business-Logik liegt vor allem im LobbyController. Die Daten kommen über die TMDB API und die Netzwerkkommunikation läuft über Host- und Client-Services.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C8A3C-1027-73F5-EB3F-E0C8931174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040BF0-0CE9-0F98-19F7-497A5C7D6F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5738B3-A966-F973-A5E9-B10D4F423732}"/>
              </a:ext>
            </a:extLst>
          </p:cNvPr>
          <p:cNvSpPr>
            <a:spLocks noGrp="1"/>
          </p:cNvSpPr>
          <p:nvPr>
            <p:ph type="body" idx="1"/>
          </p:nvPr>
        </p:nvSpPr>
        <p:spPr/>
        <p:txBody>
          <a:bodyPr/>
          <a:lstStyle/>
          <a:p>
            <a:r>
              <a:rPr lang="en-US"/>
              <a:t>Das Problem ist, dass Filmabende oft daran scheitern, dass niemand entscheiden will oder alle etwas anderes schauen möchten. Unsere Lösung ist Finnldy: Eine Lobby, gemeinsame Filter und ein Swipe-System. Wenn mindestens zwei Personen denselben Film liken, entsteht ein Match.</a:t>
            </a:r>
          </a:p>
        </p:txBody>
      </p:sp>
      <p:sp>
        <p:nvSpPr>
          <p:cNvPr id="4" name="Slide Number Placeholder 3">
            <a:extLst>
              <a:ext uri="{FF2B5EF4-FFF2-40B4-BE49-F238E27FC236}">
                <a16:creationId xmlns:a16="http://schemas.microsoft.com/office/drawing/2014/main" id="{F237C4CD-8DE8-C69D-6742-7750D41A4C17}"/>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3133710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Auf dieser Folie tragen wir kurz ein, wer welchen Teil übernommen hat. Wichtig ist, ehrlich zu bleiben und die Aufgaben nicht zu allgemein zu formulieren.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Bei der Demo zeigen wir zuerst den Start der App, dann die Filterauswahl und danach die Lobby. Danach swipen zwei User Filme. Wenn beide denselben Film liken, zeigen wir den Match-Hinweis. Falls die Verbindung nicht funktioniert, erklären wir kurz den Ablauf mit Screenshots als Backup.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6693408"/>
            <a:ext cx="12191695" cy="164592"/>
          </a:xfrm>
          <a:prstGeom prst="rect">
            <a:avLst/>
          </a:prstGeom>
          <a:solidFill>
            <a:srgbClr val="E11D48"/>
          </a:solidFill>
          <a:ln w="12700">
            <a:solidFill>
              <a:srgbClr val="E11D48"/>
            </a:solidFill>
            <a:prstDash val="solid"/>
          </a:ln>
        </p:spPr>
        <p:txBody>
          <a:bodyPr/>
          <a:lstStyle/>
          <a:p>
            <a:endParaRPr lang="de-AT"/>
          </a:p>
        </p:txBody>
      </p:sp>
      <p:sp>
        <p:nvSpPr>
          <p:cNvPr id="25" name="Slide Number Placeholder 0"/>
          <p:cNvSpPr>
            <a:spLocks noGrp="1"/>
          </p:cNvSpPr>
          <p:nvPr>
            <p:ph type="sldNum" sz="quarter" idx="4294967295"/>
          </p:nvPr>
        </p:nvSpPr>
        <p:spPr>
          <a:xfrm>
            <a:off x="11292840" y="642823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94A3B8"/>
                </a:solidFill>
              </a:defRPr>
            </a:lvl1pPr>
          </a:lstStyle>
          <a:p>
            <a:pPr algn="l"/>
            <a:fld id="{F7021451-1387-4CA6-816F-3879F97B5CBC}" type="slidenum">
              <a:rPr lang="en-US" b="0"/>
              <a:t>‹Nr.›</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2823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94A3B8"/>
                </a:solidFill>
              </a:defRPr>
            </a:lvl1pPr>
          </a:lstStyle>
          <a:p>
            <a:pPr algn="l"/>
            <a:fld id="{F7021451-1387-4CA6-816F-3879F97B5CBC}" type="slidenum">
              <a:rPr lang="en-US" b="0"/>
              <a:t>‹Nr.›</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693408"/>
            <a:ext cx="12191695" cy="0"/>
          </a:xfrm>
          <a:prstGeom prst="line">
            <a:avLst/>
          </a:prstGeom>
          <a:noFill/>
          <a:ln w="63500">
            <a:solidFill>
              <a:srgbClr val="E11D48"/>
            </a:solidFill>
            <a:prstDash val="solid"/>
          </a:ln>
        </p:spPr>
        <p:txBody>
          <a:bodyPr/>
          <a:lstStyle/>
          <a:p>
            <a:endParaRPr lang="de-AT"/>
          </a:p>
        </p:txBody>
      </p:sp>
      <p:sp>
        <p:nvSpPr>
          <p:cNvPr id="3" name="Text 1"/>
          <p:cNvSpPr/>
          <p:nvPr/>
        </p:nvSpPr>
        <p:spPr>
          <a:xfrm>
            <a:off x="731520" y="2487168"/>
            <a:ext cx="10744200" cy="868680"/>
          </a:xfrm>
          <a:prstGeom prst="rect">
            <a:avLst/>
          </a:prstGeom>
          <a:noFill/>
          <a:ln/>
        </p:spPr>
        <p:txBody>
          <a:bodyPr wrap="square" lIns="0" tIns="0" rIns="0" bIns="0" rtlCol="0" anchor="ctr"/>
          <a:lstStyle/>
          <a:p>
            <a:pPr marL="0" indent="0" algn="ctr">
              <a:buNone/>
            </a:pPr>
            <a:r>
              <a:rPr lang="en-US" sz="5200" b="1">
                <a:solidFill>
                  <a:srgbClr val="111827"/>
                </a:solidFill>
                <a:latin typeface="Aptos Display" pitchFamily="34" charset="0"/>
                <a:ea typeface="Aptos Display" pitchFamily="34" charset="-122"/>
                <a:cs typeface="Aptos Display" pitchFamily="34" charset="-120"/>
              </a:rPr>
              <a:t>FINNLDY</a:t>
            </a:r>
            <a:endParaRPr lang="en-US" sz="5200"/>
          </a:p>
        </p:txBody>
      </p:sp>
      <p:sp>
        <p:nvSpPr>
          <p:cNvPr id="25" name="Slide Number Placeholder 0"/>
          <p:cNvSpPr>
            <a:spLocks noGrp="1"/>
          </p:cNvSpPr>
          <p:nvPr>
            <p:ph type="sldNum" sz="quarter" idx="4294967295"/>
          </p:nvPr>
        </p:nvSpPr>
        <p:spPr>
          <a:xfrm>
            <a:off x="11292840" y="642823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94A3B8"/>
                </a:solidFill>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411480"/>
            <a:ext cx="10789920" cy="502920"/>
          </a:xfrm>
          <a:prstGeom prst="rect">
            <a:avLst/>
          </a:prstGeom>
          <a:noFill/>
          <a:ln/>
        </p:spPr>
        <p:txBody>
          <a:bodyPr wrap="square" lIns="0" tIns="0" rIns="0" bIns="0" rtlCol="0" anchor="ctr"/>
          <a:lstStyle/>
          <a:p>
            <a:pPr marL="0" indent="0">
              <a:buNone/>
            </a:pPr>
            <a:r>
              <a:rPr lang="en-US" sz="3000" b="1">
                <a:solidFill>
                  <a:srgbClr val="F8FAFC"/>
                </a:solidFill>
                <a:latin typeface="Aptos Display" pitchFamily="34" charset="0"/>
                <a:ea typeface="Aptos Display" pitchFamily="34" charset="-122"/>
                <a:cs typeface="Aptos Display" pitchFamily="34" charset="-120"/>
              </a:rPr>
              <a:t>Inhaltsangabe</a:t>
            </a:r>
            <a:endParaRPr lang="en-US" sz="3000"/>
          </a:p>
        </p:txBody>
      </p:sp>
      <p:sp>
        <p:nvSpPr>
          <p:cNvPr id="3" name="Shape 1"/>
          <p:cNvSpPr/>
          <p:nvPr/>
        </p:nvSpPr>
        <p:spPr>
          <a:xfrm>
            <a:off x="548640" y="1024128"/>
            <a:ext cx="1188720" cy="0"/>
          </a:xfrm>
          <a:prstGeom prst="line">
            <a:avLst/>
          </a:prstGeom>
          <a:noFill/>
          <a:ln w="38100">
            <a:solidFill>
              <a:srgbClr val="E11D48"/>
            </a:solidFill>
            <a:prstDash val="solid"/>
          </a:ln>
        </p:spPr>
        <p:txBody>
          <a:bodyPr/>
          <a:lstStyle/>
          <a:p>
            <a:endParaRPr lang="de-AT"/>
          </a:p>
        </p:txBody>
      </p:sp>
      <p:sp>
        <p:nvSpPr>
          <p:cNvPr id="4" name="Text 2"/>
          <p:cNvSpPr/>
          <p:nvPr/>
        </p:nvSpPr>
        <p:spPr>
          <a:xfrm>
            <a:off x="548640" y="1115568"/>
            <a:ext cx="10607040" cy="256032"/>
          </a:xfrm>
          <a:prstGeom prst="rect">
            <a:avLst/>
          </a:prstGeom>
          <a:noFill/>
          <a:ln/>
        </p:spPr>
        <p:txBody>
          <a:bodyPr wrap="square" lIns="0" tIns="0" rIns="0" bIns="0" rtlCol="0" anchor="ctr"/>
          <a:lstStyle/>
          <a:p>
            <a:pPr marL="0" indent="0">
              <a:buNone/>
            </a:pPr>
            <a:r>
              <a:rPr lang="en-US" sz="1250">
                <a:solidFill>
                  <a:srgbClr val="94A3B8"/>
                </a:solidFill>
              </a:rPr>
              <a:t>Kurzer Überblick über die Präsentation</a:t>
            </a:r>
            <a:endParaRPr lang="en-US" sz="1250"/>
          </a:p>
        </p:txBody>
      </p:sp>
      <p:sp>
        <p:nvSpPr>
          <p:cNvPr id="5" name="Text 3"/>
          <p:cNvSpPr/>
          <p:nvPr/>
        </p:nvSpPr>
        <p:spPr>
          <a:xfrm>
            <a:off x="914400" y="1691640"/>
            <a:ext cx="640080" cy="384048"/>
          </a:xfrm>
          <a:prstGeom prst="rect">
            <a:avLst/>
          </a:prstGeom>
          <a:solidFill>
            <a:srgbClr val="E11D48"/>
          </a:solidFill>
          <a:ln>
            <a:solidFill>
              <a:srgbClr val="E11D48"/>
            </a:solidFill>
          </a:ln>
        </p:spPr>
        <p:txBody>
          <a:bodyPr wrap="square" lIns="0" tIns="0" rIns="0" bIns="0" rtlCol="0" anchor="ctr"/>
          <a:lstStyle/>
          <a:p>
            <a:pPr marL="0" indent="0" algn="ctr">
              <a:buNone/>
            </a:pPr>
            <a:r>
              <a:rPr lang="en-US" sz="1700" b="1">
                <a:solidFill>
                  <a:srgbClr val="FFFFFF"/>
                </a:solidFill>
              </a:rPr>
              <a:t>01</a:t>
            </a:r>
            <a:endParaRPr lang="en-US" sz="1700"/>
          </a:p>
        </p:txBody>
      </p:sp>
      <p:sp>
        <p:nvSpPr>
          <p:cNvPr id="6" name="Text 4"/>
          <p:cNvSpPr/>
          <p:nvPr/>
        </p:nvSpPr>
        <p:spPr>
          <a:xfrm>
            <a:off x="1828800" y="1682496"/>
            <a:ext cx="3291840" cy="292608"/>
          </a:xfrm>
          <a:prstGeom prst="rect">
            <a:avLst/>
          </a:prstGeom>
          <a:noFill/>
          <a:ln/>
        </p:spPr>
        <p:txBody>
          <a:bodyPr wrap="square" lIns="0" tIns="0" rIns="0" bIns="0" rtlCol="0" anchor="ctr"/>
          <a:lstStyle/>
          <a:p>
            <a:pPr marL="0" indent="0">
              <a:buNone/>
            </a:pPr>
            <a:r>
              <a:rPr lang="en-US" sz="2000" b="1">
                <a:solidFill>
                  <a:srgbClr val="F8FAFC"/>
                </a:solidFill>
              </a:rPr>
              <a:t>Projektidee</a:t>
            </a:r>
            <a:endParaRPr lang="en-US" sz="2000"/>
          </a:p>
        </p:txBody>
      </p:sp>
      <p:sp>
        <p:nvSpPr>
          <p:cNvPr id="8" name="Text 6"/>
          <p:cNvSpPr/>
          <p:nvPr/>
        </p:nvSpPr>
        <p:spPr>
          <a:xfrm>
            <a:off x="914400" y="2468880"/>
            <a:ext cx="640080" cy="384048"/>
          </a:xfrm>
          <a:prstGeom prst="rect">
            <a:avLst/>
          </a:prstGeom>
          <a:solidFill>
            <a:srgbClr val="38BDF8"/>
          </a:solidFill>
          <a:ln>
            <a:solidFill>
              <a:srgbClr val="38BDF8"/>
            </a:solidFill>
          </a:ln>
        </p:spPr>
        <p:txBody>
          <a:bodyPr wrap="square" lIns="0" tIns="0" rIns="0" bIns="0" rtlCol="0" anchor="ctr"/>
          <a:lstStyle/>
          <a:p>
            <a:pPr marL="0" indent="0" algn="ctr">
              <a:buNone/>
            </a:pPr>
            <a:r>
              <a:rPr lang="en-US" sz="1700" b="1">
                <a:solidFill>
                  <a:srgbClr val="FFFFFF"/>
                </a:solidFill>
              </a:rPr>
              <a:t>02</a:t>
            </a:r>
            <a:endParaRPr lang="en-US" sz="1700"/>
          </a:p>
        </p:txBody>
      </p:sp>
      <p:sp>
        <p:nvSpPr>
          <p:cNvPr id="9" name="Text 7"/>
          <p:cNvSpPr/>
          <p:nvPr/>
        </p:nvSpPr>
        <p:spPr>
          <a:xfrm>
            <a:off x="1828800" y="2459736"/>
            <a:ext cx="3291840" cy="292608"/>
          </a:xfrm>
          <a:prstGeom prst="rect">
            <a:avLst/>
          </a:prstGeom>
          <a:noFill/>
          <a:ln/>
        </p:spPr>
        <p:txBody>
          <a:bodyPr wrap="square" lIns="0" tIns="0" rIns="0" bIns="0" rtlCol="0" anchor="ctr"/>
          <a:lstStyle/>
          <a:p>
            <a:pPr marL="0" indent="0">
              <a:buNone/>
            </a:pPr>
            <a:r>
              <a:rPr lang="en-US" sz="2000" b="1">
                <a:solidFill>
                  <a:srgbClr val="F8FAFC"/>
                </a:solidFill>
              </a:rPr>
              <a:t>Verlauf</a:t>
            </a:r>
            <a:endParaRPr lang="en-US" sz="2000"/>
          </a:p>
        </p:txBody>
      </p:sp>
      <p:sp>
        <p:nvSpPr>
          <p:cNvPr id="11" name="Text 9"/>
          <p:cNvSpPr/>
          <p:nvPr/>
        </p:nvSpPr>
        <p:spPr>
          <a:xfrm>
            <a:off x="914400" y="3246120"/>
            <a:ext cx="640080" cy="384048"/>
          </a:xfrm>
          <a:prstGeom prst="rect">
            <a:avLst/>
          </a:prstGeom>
          <a:solidFill>
            <a:srgbClr val="22C55E"/>
          </a:solidFill>
          <a:ln>
            <a:solidFill>
              <a:srgbClr val="22C55E"/>
            </a:solidFill>
          </a:ln>
        </p:spPr>
        <p:txBody>
          <a:bodyPr wrap="square" lIns="0" tIns="0" rIns="0" bIns="0" rtlCol="0" anchor="ctr"/>
          <a:lstStyle/>
          <a:p>
            <a:pPr marL="0" indent="0" algn="ctr">
              <a:buNone/>
            </a:pPr>
            <a:r>
              <a:rPr lang="en-US" sz="1700" b="1">
                <a:solidFill>
                  <a:srgbClr val="FFFFFF"/>
                </a:solidFill>
              </a:rPr>
              <a:t>03</a:t>
            </a:r>
            <a:endParaRPr lang="en-US" sz="1700"/>
          </a:p>
        </p:txBody>
      </p:sp>
      <p:sp>
        <p:nvSpPr>
          <p:cNvPr id="12" name="Text 10"/>
          <p:cNvSpPr/>
          <p:nvPr/>
        </p:nvSpPr>
        <p:spPr>
          <a:xfrm>
            <a:off x="1828800" y="3236976"/>
            <a:ext cx="3291840" cy="292608"/>
          </a:xfrm>
          <a:prstGeom prst="rect">
            <a:avLst/>
          </a:prstGeom>
          <a:noFill/>
          <a:ln/>
        </p:spPr>
        <p:txBody>
          <a:bodyPr wrap="square" lIns="0" tIns="0" rIns="0" bIns="0" rtlCol="0" anchor="ctr"/>
          <a:lstStyle/>
          <a:p>
            <a:pPr marL="0" indent="0">
              <a:buNone/>
            </a:pPr>
            <a:r>
              <a:rPr lang="en-US" sz="2000" b="1">
                <a:solidFill>
                  <a:srgbClr val="F8FAFC"/>
                </a:solidFill>
              </a:rPr>
              <a:t>Architektur</a:t>
            </a:r>
            <a:endParaRPr lang="en-US" sz="2000"/>
          </a:p>
        </p:txBody>
      </p:sp>
      <p:sp>
        <p:nvSpPr>
          <p:cNvPr id="14" name="Text 12"/>
          <p:cNvSpPr/>
          <p:nvPr/>
        </p:nvSpPr>
        <p:spPr>
          <a:xfrm>
            <a:off x="914400" y="4023360"/>
            <a:ext cx="640080" cy="384048"/>
          </a:xfrm>
          <a:prstGeom prst="rect">
            <a:avLst/>
          </a:prstGeom>
          <a:solidFill>
            <a:srgbClr val="FBBF24"/>
          </a:solidFill>
          <a:ln>
            <a:solidFill>
              <a:srgbClr val="FBBF24"/>
            </a:solidFill>
          </a:ln>
        </p:spPr>
        <p:txBody>
          <a:bodyPr wrap="square" lIns="0" tIns="0" rIns="0" bIns="0" rtlCol="0" anchor="ctr"/>
          <a:lstStyle/>
          <a:p>
            <a:pPr marL="0" indent="0" algn="ctr">
              <a:buNone/>
            </a:pPr>
            <a:r>
              <a:rPr lang="en-US" sz="1700" b="1">
                <a:solidFill>
                  <a:srgbClr val="FFFFFF"/>
                </a:solidFill>
              </a:rPr>
              <a:t>04</a:t>
            </a:r>
            <a:endParaRPr lang="en-US" sz="1700"/>
          </a:p>
        </p:txBody>
      </p:sp>
      <p:sp>
        <p:nvSpPr>
          <p:cNvPr id="15" name="Text 13"/>
          <p:cNvSpPr/>
          <p:nvPr/>
        </p:nvSpPr>
        <p:spPr>
          <a:xfrm>
            <a:off x="1828800" y="4014216"/>
            <a:ext cx="3291840" cy="292608"/>
          </a:xfrm>
          <a:prstGeom prst="rect">
            <a:avLst/>
          </a:prstGeom>
          <a:noFill/>
          <a:ln/>
        </p:spPr>
        <p:txBody>
          <a:bodyPr wrap="square" lIns="0" tIns="0" rIns="0" bIns="0" rtlCol="0" anchor="ctr"/>
          <a:lstStyle/>
          <a:p>
            <a:pPr marL="0" indent="0">
              <a:buNone/>
            </a:pPr>
            <a:r>
              <a:rPr lang="en-US" sz="2000" b="1">
                <a:solidFill>
                  <a:srgbClr val="F8FAFC"/>
                </a:solidFill>
              </a:rPr>
              <a:t>Aufgabenverteilung</a:t>
            </a:r>
            <a:endParaRPr lang="en-US" sz="2000"/>
          </a:p>
        </p:txBody>
      </p:sp>
      <p:sp>
        <p:nvSpPr>
          <p:cNvPr id="17" name="Text 15"/>
          <p:cNvSpPr/>
          <p:nvPr/>
        </p:nvSpPr>
        <p:spPr>
          <a:xfrm>
            <a:off x="914400" y="4800600"/>
            <a:ext cx="640080" cy="384048"/>
          </a:xfrm>
          <a:prstGeom prst="rect">
            <a:avLst/>
          </a:prstGeom>
          <a:solidFill>
            <a:srgbClr val="FB7185"/>
          </a:solidFill>
          <a:ln>
            <a:solidFill>
              <a:srgbClr val="FB7185"/>
            </a:solidFill>
          </a:ln>
        </p:spPr>
        <p:txBody>
          <a:bodyPr wrap="square" lIns="0" tIns="0" rIns="0" bIns="0" rtlCol="0" anchor="ctr"/>
          <a:lstStyle/>
          <a:p>
            <a:pPr marL="0" indent="0" algn="ctr">
              <a:buNone/>
            </a:pPr>
            <a:r>
              <a:rPr lang="en-US" sz="1700" b="1">
                <a:solidFill>
                  <a:srgbClr val="FFFFFF"/>
                </a:solidFill>
              </a:rPr>
              <a:t>05</a:t>
            </a:r>
            <a:endParaRPr lang="en-US" sz="1700"/>
          </a:p>
        </p:txBody>
      </p:sp>
      <p:sp>
        <p:nvSpPr>
          <p:cNvPr id="18" name="Text 16"/>
          <p:cNvSpPr/>
          <p:nvPr/>
        </p:nvSpPr>
        <p:spPr>
          <a:xfrm>
            <a:off x="1828800" y="4791456"/>
            <a:ext cx="3291840" cy="292608"/>
          </a:xfrm>
          <a:prstGeom prst="rect">
            <a:avLst/>
          </a:prstGeom>
          <a:noFill/>
          <a:ln/>
        </p:spPr>
        <p:txBody>
          <a:bodyPr wrap="square" lIns="0" tIns="0" rIns="0" bIns="0" rtlCol="0" anchor="ctr"/>
          <a:lstStyle/>
          <a:p>
            <a:pPr marL="0" indent="0">
              <a:buNone/>
            </a:pPr>
            <a:r>
              <a:rPr lang="en-US" sz="2000" b="1">
                <a:solidFill>
                  <a:srgbClr val="F8FAFC"/>
                </a:solidFill>
              </a:rPr>
              <a:t>Demo</a:t>
            </a:r>
            <a:endParaRPr lang="en-US" sz="2000"/>
          </a:p>
        </p:txBody>
      </p:sp>
      <p:sp>
        <p:nvSpPr>
          <p:cNvPr id="25" name="Slide Number Placeholder 0"/>
          <p:cNvSpPr>
            <a:spLocks noGrp="1"/>
          </p:cNvSpPr>
          <p:nvPr>
            <p:ph type="sldNum" sz="quarter" idx="4294967295"/>
          </p:nvPr>
        </p:nvSpPr>
        <p:spPr>
          <a:xfrm>
            <a:off x="11292840" y="642823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94A3B8"/>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411480"/>
            <a:ext cx="10789920" cy="502920"/>
          </a:xfrm>
          <a:prstGeom prst="rect">
            <a:avLst/>
          </a:prstGeom>
          <a:noFill/>
          <a:ln/>
        </p:spPr>
        <p:txBody>
          <a:bodyPr wrap="square" lIns="0" tIns="0" rIns="0" bIns="0" rtlCol="0" anchor="ctr"/>
          <a:lstStyle/>
          <a:p>
            <a:pPr marL="0" indent="0">
              <a:buNone/>
            </a:pPr>
            <a:r>
              <a:rPr lang="en-US" sz="3000" b="1">
                <a:solidFill>
                  <a:srgbClr val="F8FAFC"/>
                </a:solidFill>
                <a:latin typeface="Aptos Display" pitchFamily="34" charset="0"/>
                <a:ea typeface="Aptos Display" pitchFamily="34" charset="-122"/>
                <a:cs typeface="Aptos Display" pitchFamily="34" charset="-120"/>
              </a:rPr>
              <a:t>Ausgangsproblem &amp; Projektidee</a:t>
            </a:r>
            <a:endParaRPr lang="en-US" sz="3000"/>
          </a:p>
        </p:txBody>
      </p:sp>
      <p:sp>
        <p:nvSpPr>
          <p:cNvPr id="3" name="Shape 1"/>
          <p:cNvSpPr/>
          <p:nvPr/>
        </p:nvSpPr>
        <p:spPr>
          <a:xfrm>
            <a:off x="548640" y="1024128"/>
            <a:ext cx="1188720" cy="0"/>
          </a:xfrm>
          <a:prstGeom prst="line">
            <a:avLst/>
          </a:prstGeom>
          <a:noFill/>
          <a:ln w="38100">
            <a:solidFill>
              <a:srgbClr val="E11D48"/>
            </a:solidFill>
            <a:prstDash val="solid"/>
          </a:ln>
        </p:spPr>
        <p:txBody>
          <a:bodyPr/>
          <a:lstStyle/>
          <a:p>
            <a:endParaRPr lang="de-AT"/>
          </a:p>
        </p:txBody>
      </p:sp>
      <p:sp>
        <p:nvSpPr>
          <p:cNvPr id="5" name="Text 3"/>
          <p:cNvSpPr/>
          <p:nvPr/>
        </p:nvSpPr>
        <p:spPr>
          <a:xfrm>
            <a:off x="685800" y="1554480"/>
            <a:ext cx="1920240" cy="310896"/>
          </a:xfrm>
          <a:prstGeom prst="rect">
            <a:avLst/>
          </a:prstGeom>
          <a:noFill/>
          <a:ln/>
        </p:spPr>
        <p:txBody>
          <a:bodyPr wrap="square" lIns="0" tIns="0" rIns="0" bIns="0" rtlCol="0" anchor="ctr"/>
          <a:lstStyle/>
          <a:p>
            <a:pPr marL="0" indent="0">
              <a:buNone/>
            </a:pPr>
            <a:r>
              <a:rPr lang="en-US" sz="2000" b="1">
                <a:solidFill>
                  <a:srgbClr val="FB7185"/>
                </a:solidFill>
              </a:rPr>
              <a:t>Problem</a:t>
            </a:r>
            <a:endParaRPr lang="en-US" sz="2000"/>
          </a:p>
        </p:txBody>
      </p:sp>
      <p:sp>
        <p:nvSpPr>
          <p:cNvPr id="6" name="Text 4"/>
          <p:cNvSpPr/>
          <p:nvPr/>
        </p:nvSpPr>
        <p:spPr>
          <a:xfrm>
            <a:off x="685800" y="1993392"/>
            <a:ext cx="4937760" cy="1325880"/>
          </a:xfrm>
          <a:prstGeom prst="rect">
            <a:avLst/>
          </a:prstGeom>
          <a:noFill/>
          <a:ln/>
        </p:spPr>
        <p:txBody>
          <a:bodyPr wrap="square" lIns="508" tIns="508" rIns="508" bIns="508" rtlCol="0" anchor="ctr">
            <a:normAutofit lnSpcReduction="10000"/>
          </a:bodyPr>
          <a:lstStyle/>
          <a:p>
            <a:pPr marL="0" indent="0">
              <a:buNone/>
            </a:pPr>
            <a:r>
              <a:rPr lang="en-US" sz="1750">
                <a:solidFill>
                  <a:srgbClr val="F8FAFC"/>
                </a:solidFill>
              </a:rPr>
              <a:t>• In Gruppen </a:t>
            </a:r>
            <a:r>
              <a:rPr lang="en-US" sz="1750" err="1">
                <a:solidFill>
                  <a:srgbClr val="F8FAFC"/>
                </a:solidFill>
              </a:rPr>
              <a:t>dauert</a:t>
            </a:r>
            <a:r>
              <a:rPr lang="en-US" sz="1750">
                <a:solidFill>
                  <a:srgbClr val="F8FAFC"/>
                </a:solidFill>
              </a:rPr>
              <a:t> die </a:t>
            </a:r>
            <a:r>
              <a:rPr lang="en-US" sz="1750" err="1">
                <a:solidFill>
                  <a:srgbClr val="F8FAFC"/>
                </a:solidFill>
              </a:rPr>
              <a:t>Filmauswahl</a:t>
            </a:r>
            <a:r>
              <a:rPr lang="en-US" sz="1750">
                <a:solidFill>
                  <a:srgbClr val="F8FAFC"/>
                </a:solidFill>
              </a:rPr>
              <a:t> oft </a:t>
            </a:r>
            <a:r>
              <a:rPr lang="en-US" sz="1750" err="1">
                <a:solidFill>
                  <a:srgbClr val="F8FAFC"/>
                </a:solidFill>
              </a:rPr>
              <a:t>zu</a:t>
            </a:r>
            <a:r>
              <a:rPr lang="en-US" sz="1750">
                <a:solidFill>
                  <a:srgbClr val="F8FAFC"/>
                </a:solidFill>
              </a:rPr>
              <a:t> </a:t>
            </a:r>
            <a:r>
              <a:rPr lang="en-US" sz="1750" err="1">
                <a:solidFill>
                  <a:srgbClr val="F8FAFC"/>
                </a:solidFill>
              </a:rPr>
              <a:t>lange</a:t>
            </a:r>
            <a:endParaRPr lang="en-US" sz="1750"/>
          </a:p>
          <a:p>
            <a:pPr marL="0" indent="0">
              <a:buNone/>
            </a:pPr>
            <a:r>
              <a:rPr lang="en-US" sz="1750">
                <a:solidFill>
                  <a:srgbClr val="F8FAFC"/>
                </a:solidFill>
              </a:rPr>
              <a:t>• Jede Person hat andere Vorlieben bei Genre, Sprache oder Altersfreigabe.</a:t>
            </a:r>
            <a:endParaRPr lang="en-US" sz="1750"/>
          </a:p>
          <a:p>
            <a:pPr marL="0" indent="0">
              <a:buNone/>
            </a:pPr>
            <a:r>
              <a:rPr lang="en-US" sz="1750">
                <a:solidFill>
                  <a:srgbClr val="F8FAFC"/>
                </a:solidFill>
              </a:rPr>
              <a:t>• Es fehlt ein einfacher gemeinsamer Entscheidungsprozess.</a:t>
            </a:r>
            <a:endParaRPr lang="en-US" sz="1750"/>
          </a:p>
        </p:txBody>
      </p:sp>
      <p:sp>
        <p:nvSpPr>
          <p:cNvPr id="7" name="Text 5"/>
          <p:cNvSpPr/>
          <p:nvPr/>
        </p:nvSpPr>
        <p:spPr>
          <a:xfrm>
            <a:off x="685800" y="3767328"/>
            <a:ext cx="1920240" cy="310896"/>
          </a:xfrm>
          <a:prstGeom prst="rect">
            <a:avLst/>
          </a:prstGeom>
          <a:noFill/>
          <a:ln/>
        </p:spPr>
        <p:txBody>
          <a:bodyPr wrap="square" lIns="0" tIns="0" rIns="0" bIns="0" rtlCol="0" anchor="ctr"/>
          <a:lstStyle/>
          <a:p>
            <a:pPr marL="0" indent="0">
              <a:buNone/>
            </a:pPr>
            <a:r>
              <a:rPr lang="en-US" sz="2000" b="1">
                <a:solidFill>
                  <a:srgbClr val="38BDF8"/>
                </a:solidFill>
              </a:rPr>
              <a:t>Lösung</a:t>
            </a:r>
            <a:endParaRPr lang="en-US" sz="2000"/>
          </a:p>
        </p:txBody>
      </p:sp>
      <p:sp>
        <p:nvSpPr>
          <p:cNvPr id="8" name="Text 6"/>
          <p:cNvSpPr/>
          <p:nvPr/>
        </p:nvSpPr>
        <p:spPr>
          <a:xfrm>
            <a:off x="685800" y="4206240"/>
            <a:ext cx="4937760" cy="1325880"/>
          </a:xfrm>
          <a:prstGeom prst="rect">
            <a:avLst/>
          </a:prstGeom>
          <a:noFill/>
          <a:ln/>
        </p:spPr>
        <p:txBody>
          <a:bodyPr wrap="square" lIns="508" tIns="508" rIns="508" bIns="508" rtlCol="0" anchor="ctr">
            <a:normAutofit/>
          </a:bodyPr>
          <a:lstStyle/>
          <a:p>
            <a:pPr marL="0" indent="0">
              <a:buNone/>
            </a:pPr>
            <a:r>
              <a:rPr lang="en-US" sz="1750">
                <a:solidFill>
                  <a:srgbClr val="F8FAFC"/>
                </a:solidFill>
              </a:rPr>
              <a:t>• Ein User </a:t>
            </a:r>
            <a:r>
              <a:rPr lang="en-US" sz="1750" err="1">
                <a:solidFill>
                  <a:srgbClr val="F8FAFC"/>
                </a:solidFill>
              </a:rPr>
              <a:t>hostet</a:t>
            </a:r>
            <a:r>
              <a:rPr lang="en-US" sz="1750">
                <a:solidFill>
                  <a:srgbClr val="F8FAFC"/>
                </a:solidFill>
              </a:rPr>
              <a:t> </a:t>
            </a:r>
            <a:r>
              <a:rPr lang="en-US" sz="1750" err="1">
                <a:solidFill>
                  <a:srgbClr val="F8FAFC"/>
                </a:solidFill>
              </a:rPr>
              <a:t>eine</a:t>
            </a:r>
            <a:r>
              <a:rPr lang="en-US" sz="1750">
                <a:solidFill>
                  <a:srgbClr val="F8FAFC"/>
                </a:solidFill>
              </a:rPr>
              <a:t> Lobby, </a:t>
            </a:r>
            <a:r>
              <a:rPr lang="en-US" sz="1750" err="1">
                <a:solidFill>
                  <a:srgbClr val="F8FAFC"/>
                </a:solidFill>
              </a:rPr>
              <a:t>andere</a:t>
            </a:r>
            <a:r>
              <a:rPr lang="en-US" sz="1750">
                <a:solidFill>
                  <a:srgbClr val="F8FAFC"/>
                </a:solidFill>
              </a:rPr>
              <a:t> </a:t>
            </a:r>
            <a:r>
              <a:rPr lang="en-US" sz="1750" err="1">
                <a:solidFill>
                  <a:srgbClr val="F8FAFC"/>
                </a:solidFill>
              </a:rPr>
              <a:t>treten</a:t>
            </a:r>
            <a:r>
              <a:rPr lang="en-US" sz="1750">
                <a:solidFill>
                  <a:srgbClr val="F8FAFC"/>
                </a:solidFill>
              </a:rPr>
              <a:t> </a:t>
            </a:r>
            <a:r>
              <a:rPr lang="en-US" sz="1750" err="1">
                <a:solidFill>
                  <a:srgbClr val="F8FAFC"/>
                </a:solidFill>
              </a:rPr>
              <a:t>bei</a:t>
            </a:r>
            <a:r>
              <a:rPr lang="en-US" sz="1750">
                <a:solidFill>
                  <a:srgbClr val="F8FAFC"/>
                </a:solidFill>
              </a:rPr>
              <a:t>.</a:t>
            </a:r>
            <a:endParaRPr lang="en-US" sz="1750"/>
          </a:p>
          <a:p>
            <a:pPr marL="0" indent="0">
              <a:buNone/>
            </a:pPr>
            <a:r>
              <a:rPr lang="en-US" sz="1750">
                <a:solidFill>
                  <a:srgbClr val="F8FAFC"/>
                </a:solidFill>
              </a:rPr>
              <a:t>• Der Host setzt Filter für Filme.</a:t>
            </a:r>
          </a:p>
          <a:p>
            <a:pPr marL="0" indent="0">
              <a:buNone/>
            </a:pPr>
            <a:r>
              <a:rPr lang="en-US" sz="1750">
                <a:solidFill>
                  <a:srgbClr val="F8FAFC"/>
                </a:solidFill>
              </a:rPr>
              <a:t>• Alle swipen Filme und bei gemeinsamen Likes entsteht ein Match.</a:t>
            </a:r>
            <a:endParaRPr lang="en-US" sz="1750"/>
          </a:p>
        </p:txBody>
      </p:sp>
      <p:sp>
        <p:nvSpPr>
          <p:cNvPr id="9" name="Shape 7"/>
          <p:cNvSpPr/>
          <p:nvPr/>
        </p:nvSpPr>
        <p:spPr>
          <a:xfrm>
            <a:off x="7827264" y="3154680"/>
            <a:ext cx="457200" cy="0"/>
          </a:xfrm>
          <a:prstGeom prst="line">
            <a:avLst/>
          </a:prstGeom>
          <a:noFill/>
          <a:ln w="16510">
            <a:solidFill>
              <a:srgbClr val="64748B"/>
            </a:solidFill>
            <a:prstDash val="solid"/>
            <a:headEnd type="none"/>
            <a:tailEnd type="triangle"/>
          </a:ln>
        </p:spPr>
        <p:txBody>
          <a:bodyPr/>
          <a:lstStyle/>
          <a:p>
            <a:endParaRPr lang="de-AT"/>
          </a:p>
        </p:txBody>
      </p:sp>
      <p:sp>
        <p:nvSpPr>
          <p:cNvPr id="10" name="Shape 8"/>
          <p:cNvSpPr/>
          <p:nvPr/>
        </p:nvSpPr>
        <p:spPr>
          <a:xfrm>
            <a:off x="9985248" y="3154680"/>
            <a:ext cx="457200" cy="0"/>
          </a:xfrm>
          <a:prstGeom prst="line">
            <a:avLst/>
          </a:prstGeom>
          <a:noFill/>
          <a:ln w="16510">
            <a:solidFill>
              <a:srgbClr val="64748B"/>
            </a:solidFill>
            <a:prstDash val="solid"/>
            <a:headEnd type="none"/>
            <a:tailEnd type="triangle"/>
          </a:ln>
        </p:spPr>
        <p:txBody>
          <a:bodyPr/>
          <a:lstStyle/>
          <a:p>
            <a:endParaRPr lang="de-AT"/>
          </a:p>
        </p:txBody>
      </p:sp>
      <p:sp>
        <p:nvSpPr>
          <p:cNvPr id="11" name="Shape 9"/>
          <p:cNvSpPr/>
          <p:nvPr/>
        </p:nvSpPr>
        <p:spPr>
          <a:xfrm>
            <a:off x="10927080" y="3456432"/>
            <a:ext cx="0" cy="594360"/>
          </a:xfrm>
          <a:prstGeom prst="line">
            <a:avLst/>
          </a:prstGeom>
          <a:noFill/>
          <a:ln w="16510">
            <a:solidFill>
              <a:srgbClr val="FBBF24"/>
            </a:solidFill>
            <a:prstDash val="solid"/>
            <a:headEnd type="none"/>
            <a:tailEnd type="triangle"/>
          </a:ln>
        </p:spPr>
        <p:txBody>
          <a:bodyPr/>
          <a:lstStyle/>
          <a:p>
            <a:endParaRPr lang="de-AT"/>
          </a:p>
        </p:txBody>
      </p:sp>
      <p:sp>
        <p:nvSpPr>
          <p:cNvPr id="12" name="Text 10"/>
          <p:cNvSpPr/>
          <p:nvPr/>
        </p:nvSpPr>
        <p:spPr>
          <a:xfrm>
            <a:off x="6327648" y="2697480"/>
            <a:ext cx="1417320" cy="868680"/>
          </a:xfrm>
          <a:prstGeom prst="rect">
            <a:avLst/>
          </a:prstGeom>
          <a:solidFill>
            <a:srgbClr val="172033"/>
          </a:solidFill>
          <a:ln w="15240">
            <a:solidFill>
              <a:srgbClr val="FB7185"/>
            </a:solidFill>
          </a:ln>
        </p:spPr>
        <p:txBody>
          <a:bodyPr wrap="square" lIns="1016" tIns="1016" rIns="1016" bIns="1016" rtlCol="0" anchor="ctr">
            <a:normAutofit/>
          </a:bodyPr>
          <a:lstStyle/>
          <a:p>
            <a:pPr marL="0" indent="0" algn="ctr">
              <a:buNone/>
            </a:pPr>
            <a:r>
              <a:rPr lang="en-US" sz="1500" b="1">
                <a:solidFill>
                  <a:srgbClr val="F8FAFC"/>
                </a:solidFill>
              </a:rPr>
              <a:t>Name</a:t>
            </a:r>
            <a:endParaRPr lang="en-US" sz="1500"/>
          </a:p>
          <a:p>
            <a:pPr marL="0" indent="0" algn="ctr">
              <a:buNone/>
            </a:pPr>
            <a:r>
              <a:rPr lang="en-US" sz="1500" b="1">
                <a:solidFill>
                  <a:srgbClr val="F8FAFC"/>
                </a:solidFill>
              </a:rPr>
              <a:t>eingeben</a:t>
            </a:r>
            <a:endParaRPr lang="en-US" sz="1500"/>
          </a:p>
        </p:txBody>
      </p:sp>
      <p:sp>
        <p:nvSpPr>
          <p:cNvPr id="13" name="Text 11"/>
          <p:cNvSpPr/>
          <p:nvPr/>
        </p:nvSpPr>
        <p:spPr>
          <a:xfrm>
            <a:off x="8302752" y="2697480"/>
            <a:ext cx="1627632" cy="868680"/>
          </a:xfrm>
          <a:prstGeom prst="rect">
            <a:avLst/>
          </a:prstGeom>
          <a:solidFill>
            <a:srgbClr val="172033"/>
          </a:solidFill>
          <a:ln w="15240">
            <a:solidFill>
              <a:srgbClr val="38BDF8"/>
            </a:solidFill>
          </a:ln>
        </p:spPr>
        <p:txBody>
          <a:bodyPr wrap="square" lIns="1016" tIns="1016" rIns="1016" bIns="1016" rtlCol="0" anchor="ctr">
            <a:normAutofit/>
          </a:bodyPr>
          <a:lstStyle/>
          <a:p>
            <a:pPr marL="0" indent="0" algn="ctr">
              <a:buNone/>
            </a:pPr>
            <a:r>
              <a:rPr lang="en-US" sz="1500" b="1">
                <a:solidFill>
                  <a:srgbClr val="F8FAFC"/>
                </a:solidFill>
              </a:rPr>
              <a:t>Lobby</a:t>
            </a:r>
            <a:endParaRPr lang="en-US" sz="1500"/>
          </a:p>
          <a:p>
            <a:pPr marL="0" indent="0" algn="ctr">
              <a:buNone/>
            </a:pPr>
            <a:r>
              <a:rPr lang="en-US" sz="1500" b="1">
                <a:solidFill>
                  <a:srgbClr val="F8FAFC"/>
                </a:solidFill>
              </a:rPr>
              <a:t>hosten / joinen</a:t>
            </a:r>
            <a:endParaRPr lang="en-US" sz="1500"/>
          </a:p>
        </p:txBody>
      </p:sp>
      <p:sp>
        <p:nvSpPr>
          <p:cNvPr id="14" name="Text 12"/>
          <p:cNvSpPr/>
          <p:nvPr/>
        </p:nvSpPr>
        <p:spPr>
          <a:xfrm>
            <a:off x="10460736" y="2697480"/>
            <a:ext cx="1207008" cy="868680"/>
          </a:xfrm>
          <a:prstGeom prst="rect">
            <a:avLst/>
          </a:prstGeom>
          <a:solidFill>
            <a:srgbClr val="172033"/>
          </a:solidFill>
          <a:ln w="15240">
            <a:solidFill>
              <a:srgbClr val="22C55E"/>
            </a:solidFill>
          </a:ln>
        </p:spPr>
        <p:txBody>
          <a:bodyPr wrap="square" lIns="1016" tIns="1016" rIns="1016" bIns="1016" rtlCol="0" anchor="ctr">
            <a:normAutofit/>
          </a:bodyPr>
          <a:lstStyle/>
          <a:p>
            <a:pPr marL="0" indent="0" algn="ctr">
              <a:buNone/>
            </a:pPr>
            <a:r>
              <a:rPr lang="en-US" sz="1500" b="1">
                <a:solidFill>
                  <a:srgbClr val="F8FAFC"/>
                </a:solidFill>
              </a:rPr>
              <a:t>Filme</a:t>
            </a:r>
            <a:endParaRPr lang="en-US" sz="1500"/>
          </a:p>
          <a:p>
            <a:pPr marL="0" indent="0" algn="ctr">
              <a:buNone/>
            </a:pPr>
            <a:r>
              <a:rPr lang="en-US" sz="1500" b="1">
                <a:solidFill>
                  <a:srgbClr val="F8FAFC"/>
                </a:solidFill>
              </a:rPr>
              <a:t>swipen</a:t>
            </a:r>
            <a:endParaRPr lang="en-US" sz="1500"/>
          </a:p>
        </p:txBody>
      </p:sp>
      <p:sp>
        <p:nvSpPr>
          <p:cNvPr id="15" name="Text 13"/>
          <p:cNvSpPr/>
          <p:nvPr/>
        </p:nvSpPr>
        <p:spPr>
          <a:xfrm>
            <a:off x="8001000" y="4251960"/>
            <a:ext cx="2560320" cy="713232"/>
          </a:xfrm>
          <a:prstGeom prst="rect">
            <a:avLst/>
          </a:prstGeom>
          <a:solidFill>
            <a:srgbClr val="1F2937"/>
          </a:solidFill>
          <a:ln w="15240">
            <a:solidFill>
              <a:srgbClr val="FBBF24"/>
            </a:solidFill>
          </a:ln>
        </p:spPr>
        <p:txBody>
          <a:bodyPr wrap="square" lIns="1016" tIns="1016" rIns="1016" bIns="1016" rtlCol="0" anchor="ctr">
            <a:normAutofit/>
          </a:bodyPr>
          <a:lstStyle/>
          <a:p>
            <a:pPr marL="0" indent="0" algn="ctr">
              <a:buNone/>
            </a:pPr>
            <a:r>
              <a:rPr lang="en-US" sz="1600" b="1">
                <a:solidFill>
                  <a:srgbClr val="F8FAFC"/>
                </a:solidFill>
              </a:rPr>
              <a:t>Match gefunden</a:t>
            </a:r>
            <a:endParaRPr lang="en-US" sz="1600"/>
          </a:p>
        </p:txBody>
      </p:sp>
      <p:sp>
        <p:nvSpPr>
          <p:cNvPr id="25" name="Slide Number Placeholder 0"/>
          <p:cNvSpPr>
            <a:spLocks noGrp="1"/>
          </p:cNvSpPr>
          <p:nvPr>
            <p:ph type="sldNum" sz="quarter" idx="4294967295"/>
          </p:nvPr>
        </p:nvSpPr>
        <p:spPr>
          <a:xfrm>
            <a:off x="11292840" y="642823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94A3B8"/>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411480"/>
            <a:ext cx="10789920" cy="502920"/>
          </a:xfrm>
          <a:prstGeom prst="rect">
            <a:avLst/>
          </a:prstGeom>
          <a:noFill/>
          <a:ln/>
        </p:spPr>
        <p:txBody>
          <a:bodyPr wrap="square" lIns="0" tIns="0" rIns="0" bIns="0" rtlCol="0" anchor="ctr"/>
          <a:lstStyle/>
          <a:p>
            <a:pPr marL="0" indent="0">
              <a:buNone/>
            </a:pPr>
            <a:r>
              <a:rPr lang="en-US" sz="3000" b="1">
                <a:solidFill>
                  <a:srgbClr val="F8FAFC"/>
                </a:solidFill>
                <a:latin typeface="Aptos Display" pitchFamily="34" charset="0"/>
                <a:ea typeface="Aptos Display" pitchFamily="34" charset="-122"/>
                <a:cs typeface="Aptos Display" pitchFamily="34" charset="-120"/>
              </a:rPr>
              <a:t>Verlauf</a:t>
            </a:r>
            <a:endParaRPr lang="en-US" sz="3000"/>
          </a:p>
        </p:txBody>
      </p:sp>
      <p:sp>
        <p:nvSpPr>
          <p:cNvPr id="3" name="Shape 1"/>
          <p:cNvSpPr/>
          <p:nvPr/>
        </p:nvSpPr>
        <p:spPr>
          <a:xfrm>
            <a:off x="548640" y="1024128"/>
            <a:ext cx="1188720" cy="0"/>
          </a:xfrm>
          <a:prstGeom prst="line">
            <a:avLst/>
          </a:prstGeom>
          <a:noFill/>
          <a:ln w="38100">
            <a:solidFill>
              <a:srgbClr val="E11D48"/>
            </a:solidFill>
            <a:prstDash val="solid"/>
          </a:ln>
        </p:spPr>
        <p:txBody>
          <a:bodyPr/>
          <a:lstStyle/>
          <a:p>
            <a:endParaRPr lang="de-AT"/>
          </a:p>
        </p:txBody>
      </p:sp>
      <p:sp>
        <p:nvSpPr>
          <p:cNvPr id="5" name="Shape 3"/>
          <p:cNvSpPr/>
          <p:nvPr/>
        </p:nvSpPr>
        <p:spPr>
          <a:xfrm>
            <a:off x="2560320" y="3328416"/>
            <a:ext cx="640080" cy="0"/>
          </a:xfrm>
          <a:prstGeom prst="line">
            <a:avLst/>
          </a:prstGeom>
          <a:noFill/>
          <a:ln w="16510">
            <a:solidFill>
              <a:srgbClr val="64748B"/>
            </a:solidFill>
            <a:prstDash val="solid"/>
            <a:headEnd type="none"/>
            <a:tailEnd type="triangle"/>
          </a:ln>
        </p:spPr>
        <p:txBody>
          <a:bodyPr/>
          <a:lstStyle/>
          <a:p>
            <a:endParaRPr lang="de-AT"/>
          </a:p>
        </p:txBody>
      </p:sp>
      <p:sp>
        <p:nvSpPr>
          <p:cNvPr id="6" name="Shape 4"/>
          <p:cNvSpPr/>
          <p:nvPr/>
        </p:nvSpPr>
        <p:spPr>
          <a:xfrm>
            <a:off x="4709160" y="3328416"/>
            <a:ext cx="640080" cy="0"/>
          </a:xfrm>
          <a:prstGeom prst="line">
            <a:avLst/>
          </a:prstGeom>
          <a:noFill/>
          <a:ln w="16510">
            <a:solidFill>
              <a:srgbClr val="64748B"/>
            </a:solidFill>
            <a:prstDash val="solid"/>
            <a:headEnd type="none"/>
            <a:tailEnd type="triangle"/>
          </a:ln>
        </p:spPr>
        <p:txBody>
          <a:bodyPr/>
          <a:lstStyle/>
          <a:p>
            <a:endParaRPr lang="de-AT"/>
          </a:p>
        </p:txBody>
      </p:sp>
      <p:sp>
        <p:nvSpPr>
          <p:cNvPr id="7" name="Shape 5"/>
          <p:cNvSpPr/>
          <p:nvPr/>
        </p:nvSpPr>
        <p:spPr>
          <a:xfrm>
            <a:off x="6858000" y="3328416"/>
            <a:ext cx="640080" cy="0"/>
          </a:xfrm>
          <a:prstGeom prst="line">
            <a:avLst/>
          </a:prstGeom>
          <a:noFill/>
          <a:ln w="16510">
            <a:solidFill>
              <a:srgbClr val="64748B"/>
            </a:solidFill>
            <a:prstDash val="solid"/>
            <a:headEnd type="none"/>
            <a:tailEnd type="triangle"/>
          </a:ln>
        </p:spPr>
        <p:txBody>
          <a:bodyPr/>
          <a:lstStyle/>
          <a:p>
            <a:endParaRPr lang="de-AT"/>
          </a:p>
        </p:txBody>
      </p:sp>
      <p:sp>
        <p:nvSpPr>
          <p:cNvPr id="8" name="Shape 6"/>
          <p:cNvSpPr/>
          <p:nvPr/>
        </p:nvSpPr>
        <p:spPr>
          <a:xfrm>
            <a:off x="9006840" y="3328416"/>
            <a:ext cx="640080" cy="0"/>
          </a:xfrm>
          <a:prstGeom prst="line">
            <a:avLst/>
          </a:prstGeom>
          <a:noFill/>
          <a:ln w="16510">
            <a:solidFill>
              <a:srgbClr val="64748B"/>
            </a:solidFill>
            <a:prstDash val="solid"/>
            <a:headEnd type="none"/>
            <a:tailEnd type="triangle"/>
          </a:ln>
        </p:spPr>
        <p:txBody>
          <a:bodyPr/>
          <a:lstStyle/>
          <a:p>
            <a:endParaRPr lang="de-AT"/>
          </a:p>
        </p:txBody>
      </p:sp>
      <p:sp>
        <p:nvSpPr>
          <p:cNvPr id="9" name="Text 7"/>
          <p:cNvSpPr/>
          <p:nvPr/>
        </p:nvSpPr>
        <p:spPr>
          <a:xfrm>
            <a:off x="1143000" y="2807208"/>
            <a:ext cx="1417320" cy="1051560"/>
          </a:xfrm>
          <a:prstGeom prst="rect">
            <a:avLst/>
          </a:prstGeom>
          <a:solidFill>
            <a:srgbClr val="172033"/>
          </a:solidFill>
          <a:ln w="15240">
            <a:solidFill>
              <a:srgbClr val="FB7185"/>
            </a:solidFill>
          </a:ln>
        </p:spPr>
        <p:txBody>
          <a:bodyPr wrap="square" lIns="1016" tIns="1016" rIns="1016" bIns="1016" rtlCol="0" anchor="ctr">
            <a:normAutofit/>
          </a:bodyPr>
          <a:lstStyle/>
          <a:p>
            <a:pPr marL="0" indent="0" algn="ctr">
              <a:buNone/>
            </a:pPr>
            <a:r>
              <a:rPr lang="en-US" sz="1600" b="1">
                <a:solidFill>
                  <a:srgbClr val="F8FAFC"/>
                </a:solidFill>
              </a:rPr>
              <a:t>1</a:t>
            </a:r>
            <a:endParaRPr lang="en-US" sz="1600"/>
          </a:p>
          <a:p>
            <a:pPr marL="0" indent="0" algn="ctr">
              <a:buNone/>
            </a:pPr>
            <a:r>
              <a:rPr lang="en-US" sz="1600" b="1">
                <a:solidFill>
                  <a:srgbClr val="F8FAFC"/>
                </a:solidFill>
              </a:rPr>
              <a:t>Start</a:t>
            </a:r>
            <a:endParaRPr lang="en-US" sz="1600"/>
          </a:p>
        </p:txBody>
      </p:sp>
      <p:sp>
        <p:nvSpPr>
          <p:cNvPr id="10" name="Text 8"/>
          <p:cNvSpPr/>
          <p:nvPr/>
        </p:nvSpPr>
        <p:spPr>
          <a:xfrm>
            <a:off x="1097280" y="4059936"/>
            <a:ext cx="1600200" cy="475488"/>
          </a:xfrm>
          <a:prstGeom prst="rect">
            <a:avLst/>
          </a:prstGeom>
          <a:noFill/>
          <a:ln/>
        </p:spPr>
        <p:txBody>
          <a:bodyPr wrap="square" lIns="254" tIns="254" rIns="254" bIns="254" rtlCol="0" anchor="ctr">
            <a:normAutofit/>
          </a:bodyPr>
          <a:lstStyle/>
          <a:p>
            <a:pPr marL="0" indent="0" algn="ctr">
              <a:buNone/>
            </a:pPr>
            <a:r>
              <a:rPr lang="en-US" sz="1350">
                <a:solidFill>
                  <a:srgbClr val="CBD5E1"/>
                </a:solidFill>
              </a:rPr>
              <a:t>Name eingeben</a:t>
            </a:r>
            <a:endParaRPr lang="en-US" sz="1350"/>
          </a:p>
        </p:txBody>
      </p:sp>
      <p:sp>
        <p:nvSpPr>
          <p:cNvPr id="11" name="Text 9"/>
          <p:cNvSpPr/>
          <p:nvPr/>
        </p:nvSpPr>
        <p:spPr>
          <a:xfrm>
            <a:off x="3291840" y="2807208"/>
            <a:ext cx="1417320" cy="1051560"/>
          </a:xfrm>
          <a:prstGeom prst="rect">
            <a:avLst/>
          </a:prstGeom>
          <a:solidFill>
            <a:srgbClr val="172033"/>
          </a:solidFill>
          <a:ln w="15240">
            <a:solidFill>
              <a:srgbClr val="38BDF8"/>
            </a:solidFill>
          </a:ln>
        </p:spPr>
        <p:txBody>
          <a:bodyPr wrap="square" lIns="1016" tIns="1016" rIns="1016" bIns="1016" rtlCol="0" anchor="ctr">
            <a:normAutofit/>
          </a:bodyPr>
          <a:lstStyle/>
          <a:p>
            <a:pPr marL="0" indent="0" algn="ctr">
              <a:buNone/>
            </a:pPr>
            <a:r>
              <a:rPr lang="en-US" sz="1600" b="1">
                <a:solidFill>
                  <a:srgbClr val="F8FAFC"/>
                </a:solidFill>
              </a:rPr>
              <a:t>2</a:t>
            </a:r>
            <a:endParaRPr lang="en-US" sz="1600"/>
          </a:p>
          <a:p>
            <a:pPr marL="0" indent="0" algn="ctr">
              <a:buNone/>
            </a:pPr>
            <a:r>
              <a:rPr lang="en-US" sz="1600" b="1">
                <a:solidFill>
                  <a:srgbClr val="F8FAFC"/>
                </a:solidFill>
              </a:rPr>
              <a:t>Filter</a:t>
            </a:r>
            <a:endParaRPr lang="en-US" sz="1600"/>
          </a:p>
        </p:txBody>
      </p:sp>
      <p:sp>
        <p:nvSpPr>
          <p:cNvPr id="12" name="Text 10"/>
          <p:cNvSpPr/>
          <p:nvPr/>
        </p:nvSpPr>
        <p:spPr>
          <a:xfrm>
            <a:off x="3246120" y="4059936"/>
            <a:ext cx="1600200" cy="475488"/>
          </a:xfrm>
          <a:prstGeom prst="rect">
            <a:avLst/>
          </a:prstGeom>
          <a:noFill/>
          <a:ln/>
        </p:spPr>
        <p:txBody>
          <a:bodyPr wrap="square" lIns="254" tIns="254" rIns="254" bIns="254" rtlCol="0" anchor="ctr">
            <a:normAutofit/>
          </a:bodyPr>
          <a:lstStyle/>
          <a:p>
            <a:pPr marL="0" indent="0" algn="ctr">
              <a:buNone/>
            </a:pPr>
            <a:r>
              <a:rPr lang="en-US" sz="1350">
                <a:solidFill>
                  <a:srgbClr val="CBD5E1"/>
                </a:solidFill>
              </a:rPr>
              <a:t>Genre, Sprache, 18+</a:t>
            </a:r>
            <a:endParaRPr lang="en-US" sz="1350"/>
          </a:p>
        </p:txBody>
      </p:sp>
      <p:sp>
        <p:nvSpPr>
          <p:cNvPr id="13" name="Text 11"/>
          <p:cNvSpPr/>
          <p:nvPr/>
        </p:nvSpPr>
        <p:spPr>
          <a:xfrm>
            <a:off x="5440680" y="2807208"/>
            <a:ext cx="1417320" cy="1051560"/>
          </a:xfrm>
          <a:prstGeom prst="rect">
            <a:avLst/>
          </a:prstGeom>
          <a:solidFill>
            <a:srgbClr val="172033"/>
          </a:solidFill>
          <a:ln w="15240">
            <a:solidFill>
              <a:srgbClr val="22C55E"/>
            </a:solidFill>
          </a:ln>
        </p:spPr>
        <p:txBody>
          <a:bodyPr wrap="square" lIns="1016" tIns="1016" rIns="1016" bIns="1016" rtlCol="0" anchor="ctr">
            <a:normAutofit/>
          </a:bodyPr>
          <a:lstStyle/>
          <a:p>
            <a:pPr marL="0" indent="0" algn="ctr">
              <a:buNone/>
            </a:pPr>
            <a:r>
              <a:rPr lang="en-US" sz="1600" b="1">
                <a:solidFill>
                  <a:srgbClr val="F8FAFC"/>
                </a:solidFill>
              </a:rPr>
              <a:t>3</a:t>
            </a:r>
            <a:endParaRPr lang="en-US" sz="1600"/>
          </a:p>
          <a:p>
            <a:pPr marL="0" indent="0" algn="ctr">
              <a:buNone/>
            </a:pPr>
            <a:r>
              <a:rPr lang="en-US" sz="1600" b="1">
                <a:solidFill>
                  <a:srgbClr val="F8FAFC"/>
                </a:solidFill>
              </a:rPr>
              <a:t>Lobby</a:t>
            </a:r>
            <a:endParaRPr lang="en-US" sz="1600"/>
          </a:p>
        </p:txBody>
      </p:sp>
      <p:sp>
        <p:nvSpPr>
          <p:cNvPr id="14" name="Text 12"/>
          <p:cNvSpPr/>
          <p:nvPr/>
        </p:nvSpPr>
        <p:spPr>
          <a:xfrm>
            <a:off x="5394960" y="4059936"/>
            <a:ext cx="1600200" cy="475488"/>
          </a:xfrm>
          <a:prstGeom prst="rect">
            <a:avLst/>
          </a:prstGeom>
          <a:noFill/>
          <a:ln/>
        </p:spPr>
        <p:txBody>
          <a:bodyPr wrap="square" lIns="254" tIns="254" rIns="254" bIns="254" rtlCol="0" anchor="ctr">
            <a:normAutofit/>
          </a:bodyPr>
          <a:lstStyle/>
          <a:p>
            <a:pPr marL="0" indent="0" algn="ctr">
              <a:buNone/>
            </a:pPr>
            <a:r>
              <a:rPr lang="en-US" sz="1350">
                <a:solidFill>
                  <a:srgbClr val="CBD5E1"/>
                </a:solidFill>
              </a:rPr>
              <a:t>hosten oder beitreten</a:t>
            </a:r>
            <a:endParaRPr lang="en-US" sz="1350"/>
          </a:p>
        </p:txBody>
      </p:sp>
      <p:sp>
        <p:nvSpPr>
          <p:cNvPr id="15" name="Text 13"/>
          <p:cNvSpPr/>
          <p:nvPr/>
        </p:nvSpPr>
        <p:spPr>
          <a:xfrm>
            <a:off x="7589520" y="2807208"/>
            <a:ext cx="1417320" cy="1051560"/>
          </a:xfrm>
          <a:prstGeom prst="rect">
            <a:avLst/>
          </a:prstGeom>
          <a:solidFill>
            <a:srgbClr val="172033"/>
          </a:solidFill>
          <a:ln w="15240">
            <a:solidFill>
              <a:srgbClr val="FBBF24"/>
            </a:solidFill>
          </a:ln>
        </p:spPr>
        <p:txBody>
          <a:bodyPr wrap="square" lIns="1016" tIns="1016" rIns="1016" bIns="1016" rtlCol="0" anchor="ctr">
            <a:normAutofit/>
          </a:bodyPr>
          <a:lstStyle/>
          <a:p>
            <a:pPr marL="0" indent="0" algn="ctr">
              <a:buNone/>
            </a:pPr>
            <a:r>
              <a:rPr lang="en-US" sz="1600" b="1">
                <a:solidFill>
                  <a:srgbClr val="F8FAFC"/>
                </a:solidFill>
              </a:rPr>
              <a:t>4</a:t>
            </a:r>
            <a:endParaRPr lang="en-US" sz="1600"/>
          </a:p>
          <a:p>
            <a:pPr marL="0" indent="0" algn="ctr">
              <a:buNone/>
            </a:pPr>
            <a:r>
              <a:rPr lang="en-US" sz="1600" b="1">
                <a:solidFill>
                  <a:srgbClr val="F8FAFC"/>
                </a:solidFill>
              </a:rPr>
              <a:t>Swipe</a:t>
            </a:r>
            <a:endParaRPr lang="en-US" sz="1600"/>
          </a:p>
        </p:txBody>
      </p:sp>
      <p:sp>
        <p:nvSpPr>
          <p:cNvPr id="16" name="Text 14"/>
          <p:cNvSpPr/>
          <p:nvPr/>
        </p:nvSpPr>
        <p:spPr>
          <a:xfrm>
            <a:off x="7543800" y="4059936"/>
            <a:ext cx="1600200" cy="475488"/>
          </a:xfrm>
          <a:prstGeom prst="rect">
            <a:avLst/>
          </a:prstGeom>
          <a:noFill/>
          <a:ln/>
        </p:spPr>
        <p:txBody>
          <a:bodyPr wrap="square" lIns="254" tIns="254" rIns="254" bIns="254" rtlCol="0" anchor="ctr">
            <a:normAutofit/>
          </a:bodyPr>
          <a:lstStyle/>
          <a:p>
            <a:pPr marL="0" indent="0" algn="ctr">
              <a:buNone/>
            </a:pPr>
            <a:r>
              <a:rPr lang="en-US" sz="1350">
                <a:solidFill>
                  <a:srgbClr val="CBD5E1"/>
                </a:solidFill>
              </a:rPr>
              <a:t>Filme bewerten</a:t>
            </a:r>
            <a:endParaRPr lang="en-US" sz="1350"/>
          </a:p>
        </p:txBody>
      </p:sp>
      <p:sp>
        <p:nvSpPr>
          <p:cNvPr id="17" name="Text 15"/>
          <p:cNvSpPr/>
          <p:nvPr/>
        </p:nvSpPr>
        <p:spPr>
          <a:xfrm>
            <a:off x="9738360" y="2807208"/>
            <a:ext cx="1417320" cy="1051560"/>
          </a:xfrm>
          <a:prstGeom prst="rect">
            <a:avLst/>
          </a:prstGeom>
          <a:solidFill>
            <a:srgbClr val="172033"/>
          </a:solidFill>
          <a:ln w="15240">
            <a:solidFill>
              <a:srgbClr val="FB7185"/>
            </a:solidFill>
          </a:ln>
        </p:spPr>
        <p:txBody>
          <a:bodyPr wrap="square" lIns="1016" tIns="1016" rIns="1016" bIns="1016" rtlCol="0" anchor="ctr">
            <a:normAutofit/>
          </a:bodyPr>
          <a:lstStyle/>
          <a:p>
            <a:pPr marL="0" indent="0" algn="ctr">
              <a:buNone/>
            </a:pPr>
            <a:r>
              <a:rPr lang="en-US" sz="1600" b="1">
                <a:solidFill>
                  <a:srgbClr val="F8FAFC"/>
                </a:solidFill>
              </a:rPr>
              <a:t>5</a:t>
            </a:r>
            <a:endParaRPr lang="en-US" sz="1600"/>
          </a:p>
          <a:p>
            <a:pPr marL="0" indent="0" algn="ctr">
              <a:buNone/>
            </a:pPr>
            <a:r>
              <a:rPr lang="en-US" sz="1600" b="1">
                <a:solidFill>
                  <a:srgbClr val="F8FAFC"/>
                </a:solidFill>
              </a:rPr>
              <a:t>Match</a:t>
            </a:r>
            <a:endParaRPr lang="en-US" sz="1600"/>
          </a:p>
        </p:txBody>
      </p:sp>
      <p:sp>
        <p:nvSpPr>
          <p:cNvPr id="18" name="Text 16"/>
          <p:cNvSpPr/>
          <p:nvPr/>
        </p:nvSpPr>
        <p:spPr>
          <a:xfrm>
            <a:off x="9692640" y="4059936"/>
            <a:ext cx="1600200" cy="475488"/>
          </a:xfrm>
          <a:prstGeom prst="rect">
            <a:avLst/>
          </a:prstGeom>
          <a:noFill/>
          <a:ln/>
        </p:spPr>
        <p:txBody>
          <a:bodyPr wrap="square" lIns="254" tIns="254" rIns="254" bIns="254" rtlCol="0" anchor="ctr">
            <a:normAutofit/>
          </a:bodyPr>
          <a:lstStyle/>
          <a:p>
            <a:pPr marL="0" indent="0" algn="ctr">
              <a:buNone/>
            </a:pPr>
            <a:r>
              <a:rPr lang="en-US" sz="1350">
                <a:solidFill>
                  <a:srgbClr val="CBD5E1"/>
                </a:solidFill>
              </a:rPr>
              <a:t>gemeinsamer Film</a:t>
            </a:r>
            <a:endParaRPr lang="en-US" sz="1350"/>
          </a:p>
        </p:txBody>
      </p:sp>
      <p:sp>
        <p:nvSpPr>
          <p:cNvPr id="25" name="Slide Number Placeholder 0"/>
          <p:cNvSpPr>
            <a:spLocks noGrp="1"/>
          </p:cNvSpPr>
          <p:nvPr>
            <p:ph type="sldNum" sz="quarter" idx="4294967295"/>
          </p:nvPr>
        </p:nvSpPr>
        <p:spPr>
          <a:xfrm>
            <a:off x="11292840" y="642823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94A3B8"/>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411480"/>
            <a:ext cx="10789920" cy="502920"/>
          </a:xfrm>
          <a:prstGeom prst="rect">
            <a:avLst/>
          </a:prstGeom>
          <a:noFill/>
          <a:ln/>
        </p:spPr>
        <p:txBody>
          <a:bodyPr wrap="square" lIns="0" tIns="0" rIns="0" bIns="0" rtlCol="0" anchor="ctr"/>
          <a:lstStyle/>
          <a:p>
            <a:pPr marL="0" indent="0">
              <a:buNone/>
            </a:pPr>
            <a:r>
              <a:rPr lang="en-US" sz="3000" b="1">
                <a:solidFill>
                  <a:srgbClr val="F8FAFC"/>
                </a:solidFill>
                <a:latin typeface="Aptos Display" pitchFamily="34" charset="0"/>
                <a:ea typeface="Aptos Display" pitchFamily="34" charset="-122"/>
                <a:cs typeface="Aptos Display" pitchFamily="34" charset="-120"/>
              </a:rPr>
              <a:t>Architektur</a:t>
            </a:r>
            <a:endParaRPr lang="en-US" sz="3000"/>
          </a:p>
        </p:txBody>
      </p:sp>
      <p:sp>
        <p:nvSpPr>
          <p:cNvPr id="3" name="Shape 1"/>
          <p:cNvSpPr/>
          <p:nvPr/>
        </p:nvSpPr>
        <p:spPr>
          <a:xfrm>
            <a:off x="548640" y="1024128"/>
            <a:ext cx="1188720" cy="0"/>
          </a:xfrm>
          <a:prstGeom prst="line">
            <a:avLst/>
          </a:prstGeom>
          <a:noFill/>
          <a:ln w="38100">
            <a:solidFill>
              <a:srgbClr val="E11D48"/>
            </a:solidFill>
            <a:prstDash val="solid"/>
          </a:ln>
        </p:spPr>
        <p:txBody>
          <a:bodyPr/>
          <a:lstStyle/>
          <a:p>
            <a:endParaRPr lang="de-AT"/>
          </a:p>
        </p:txBody>
      </p:sp>
      <p:sp>
        <p:nvSpPr>
          <p:cNvPr id="5" name="Shape 3"/>
          <p:cNvSpPr/>
          <p:nvPr/>
        </p:nvSpPr>
        <p:spPr>
          <a:xfrm>
            <a:off x="3034937" y="3671316"/>
            <a:ext cx="1097280" cy="0"/>
          </a:xfrm>
          <a:prstGeom prst="line">
            <a:avLst/>
          </a:prstGeom>
          <a:noFill/>
          <a:ln w="16510">
            <a:solidFill>
              <a:srgbClr val="64748B"/>
            </a:solidFill>
            <a:prstDash val="solid"/>
            <a:headEnd type="none"/>
            <a:tailEnd type="triangle"/>
          </a:ln>
        </p:spPr>
        <p:txBody>
          <a:bodyPr/>
          <a:lstStyle/>
          <a:p>
            <a:endParaRPr lang="de-AT"/>
          </a:p>
        </p:txBody>
      </p:sp>
      <p:sp>
        <p:nvSpPr>
          <p:cNvPr id="6" name="Shape 4"/>
          <p:cNvSpPr/>
          <p:nvPr/>
        </p:nvSpPr>
        <p:spPr>
          <a:xfrm>
            <a:off x="6692537" y="3671316"/>
            <a:ext cx="1005840" cy="0"/>
          </a:xfrm>
          <a:prstGeom prst="line">
            <a:avLst/>
          </a:prstGeom>
          <a:noFill/>
          <a:ln w="16510">
            <a:solidFill>
              <a:srgbClr val="64748B"/>
            </a:solidFill>
            <a:prstDash val="solid"/>
            <a:headEnd type="none"/>
            <a:tailEnd type="triangle"/>
          </a:ln>
        </p:spPr>
        <p:txBody>
          <a:bodyPr/>
          <a:lstStyle/>
          <a:p>
            <a:endParaRPr lang="de-AT"/>
          </a:p>
        </p:txBody>
      </p:sp>
      <p:sp>
        <p:nvSpPr>
          <p:cNvPr id="7" name="Shape 5"/>
          <p:cNvSpPr/>
          <p:nvPr/>
        </p:nvSpPr>
        <p:spPr>
          <a:xfrm>
            <a:off x="9234569" y="3671316"/>
            <a:ext cx="731520" cy="0"/>
          </a:xfrm>
          <a:prstGeom prst="line">
            <a:avLst/>
          </a:prstGeom>
          <a:noFill/>
          <a:ln w="16510">
            <a:solidFill>
              <a:srgbClr val="64748B"/>
            </a:solidFill>
            <a:prstDash val="solid"/>
            <a:headEnd type="none"/>
            <a:tailEnd type="triangle"/>
          </a:ln>
        </p:spPr>
        <p:txBody>
          <a:bodyPr/>
          <a:lstStyle/>
          <a:p>
            <a:endParaRPr lang="de-AT"/>
          </a:p>
        </p:txBody>
      </p:sp>
      <p:sp>
        <p:nvSpPr>
          <p:cNvPr id="8" name="Text 6"/>
          <p:cNvSpPr/>
          <p:nvPr/>
        </p:nvSpPr>
        <p:spPr>
          <a:xfrm>
            <a:off x="794657" y="2985516"/>
            <a:ext cx="2240280" cy="1371600"/>
          </a:xfrm>
          <a:prstGeom prst="rect">
            <a:avLst/>
          </a:prstGeom>
          <a:solidFill>
            <a:srgbClr val="172033"/>
          </a:solidFill>
          <a:ln w="15240">
            <a:solidFill>
              <a:srgbClr val="FB7185"/>
            </a:solidFill>
          </a:ln>
        </p:spPr>
        <p:txBody>
          <a:bodyPr wrap="square" lIns="1016" tIns="1016" rIns="1016" bIns="1016" rtlCol="0" anchor="ctr">
            <a:normAutofit/>
          </a:bodyPr>
          <a:lstStyle/>
          <a:p>
            <a:pPr marL="0" indent="0" algn="ctr">
              <a:buNone/>
            </a:pPr>
            <a:r>
              <a:rPr lang="en-US" sz="1450" b="1">
                <a:solidFill>
                  <a:srgbClr val="F8FAFC"/>
                </a:solidFill>
              </a:rPr>
              <a:t>UI</a:t>
            </a:r>
            <a:endParaRPr lang="en-US" sz="1450"/>
          </a:p>
          <a:p>
            <a:pPr marL="0" indent="0" algn="ctr">
              <a:buNone/>
            </a:pPr>
            <a:r>
              <a:rPr lang="en-US" sz="1450" b="1">
                <a:solidFill>
                  <a:srgbClr val="F8FAFC"/>
                </a:solidFill>
              </a:rPr>
              <a:t>WPF-Fenster</a:t>
            </a:r>
            <a:endParaRPr lang="en-US" sz="1450"/>
          </a:p>
          <a:p>
            <a:pPr marL="0" indent="0" algn="ctr">
              <a:buNone/>
            </a:pPr>
            <a:r>
              <a:rPr lang="en-US" sz="1450" b="1">
                <a:solidFill>
                  <a:srgbClr val="F8FAFC"/>
                </a:solidFill>
              </a:rPr>
              <a:t>Home · Filter · Lobby · Swipe</a:t>
            </a:r>
            <a:endParaRPr lang="en-US" sz="1450"/>
          </a:p>
        </p:txBody>
      </p:sp>
      <p:sp>
        <p:nvSpPr>
          <p:cNvPr id="9" name="Text 7"/>
          <p:cNvSpPr/>
          <p:nvPr/>
        </p:nvSpPr>
        <p:spPr>
          <a:xfrm>
            <a:off x="4177937" y="2985516"/>
            <a:ext cx="2514600" cy="1371600"/>
          </a:xfrm>
          <a:prstGeom prst="rect">
            <a:avLst/>
          </a:prstGeom>
          <a:solidFill>
            <a:srgbClr val="172033"/>
          </a:solidFill>
          <a:ln w="15240">
            <a:solidFill>
              <a:srgbClr val="38BDF8"/>
            </a:solidFill>
          </a:ln>
        </p:spPr>
        <p:txBody>
          <a:bodyPr wrap="square" lIns="1016" tIns="1016" rIns="1016" bIns="1016" rtlCol="0" anchor="ctr">
            <a:normAutofit/>
          </a:bodyPr>
          <a:lstStyle/>
          <a:p>
            <a:pPr marL="0" indent="0" algn="ctr">
              <a:buNone/>
            </a:pPr>
            <a:r>
              <a:rPr lang="en-US" sz="1450" b="1">
                <a:solidFill>
                  <a:srgbClr val="F8FAFC"/>
                </a:solidFill>
              </a:rPr>
              <a:t>BLL</a:t>
            </a:r>
            <a:endParaRPr lang="en-US" sz="1450"/>
          </a:p>
          <a:p>
            <a:pPr marL="0" indent="0" algn="ctr">
              <a:buNone/>
            </a:pPr>
            <a:r>
              <a:rPr lang="en-US" sz="1450" b="1">
                <a:solidFill>
                  <a:srgbClr val="F8FAFC"/>
                </a:solidFill>
              </a:rPr>
              <a:t>Controller + Modelle</a:t>
            </a:r>
            <a:endParaRPr lang="en-US" sz="1450"/>
          </a:p>
          <a:p>
            <a:pPr marL="0" indent="0" algn="ctr">
              <a:buNone/>
            </a:pPr>
            <a:r>
              <a:rPr lang="en-US" sz="1450" b="1">
                <a:solidFill>
                  <a:srgbClr val="F8FAFC"/>
                </a:solidFill>
              </a:rPr>
              <a:t>LobbyController · User · Movies</a:t>
            </a:r>
            <a:endParaRPr lang="en-US" sz="1450"/>
          </a:p>
        </p:txBody>
      </p:sp>
      <p:sp>
        <p:nvSpPr>
          <p:cNvPr id="10" name="Text 8"/>
          <p:cNvSpPr/>
          <p:nvPr/>
        </p:nvSpPr>
        <p:spPr>
          <a:xfrm>
            <a:off x="7698377" y="2985516"/>
            <a:ext cx="1783080" cy="1371600"/>
          </a:xfrm>
          <a:prstGeom prst="rect">
            <a:avLst/>
          </a:prstGeom>
          <a:solidFill>
            <a:srgbClr val="172033"/>
          </a:solidFill>
          <a:ln w="15240">
            <a:solidFill>
              <a:srgbClr val="22C55E"/>
            </a:solidFill>
          </a:ln>
        </p:spPr>
        <p:txBody>
          <a:bodyPr wrap="square" lIns="1016" tIns="1016" rIns="1016" bIns="1016" rtlCol="0" anchor="ctr">
            <a:normAutofit/>
          </a:bodyPr>
          <a:lstStyle/>
          <a:p>
            <a:pPr marL="0" indent="0" algn="ctr">
              <a:buNone/>
            </a:pPr>
            <a:r>
              <a:rPr lang="en-US" sz="1450" b="1">
                <a:solidFill>
                  <a:srgbClr val="F8FAFC"/>
                </a:solidFill>
              </a:rPr>
              <a:t>DAL</a:t>
            </a:r>
            <a:endParaRPr lang="en-US" sz="1450"/>
          </a:p>
          <a:p>
            <a:pPr marL="0" indent="0" algn="ctr">
              <a:buNone/>
            </a:pPr>
            <a:r>
              <a:rPr lang="en-US" sz="1450" b="1">
                <a:solidFill>
                  <a:srgbClr val="F8FAFC"/>
                </a:solidFill>
              </a:rPr>
              <a:t>Daten + API</a:t>
            </a:r>
            <a:endParaRPr lang="en-US" sz="1450"/>
          </a:p>
          <a:p>
            <a:pPr marL="0" indent="0" algn="ctr">
              <a:buNone/>
            </a:pPr>
            <a:r>
              <a:rPr lang="en-US" sz="1450" b="1">
                <a:solidFill>
                  <a:srgbClr val="F8FAFC"/>
                </a:solidFill>
              </a:rPr>
              <a:t>TMDB · Backend-Calls</a:t>
            </a:r>
            <a:endParaRPr lang="en-US" sz="1450"/>
          </a:p>
        </p:txBody>
      </p:sp>
      <p:sp>
        <p:nvSpPr>
          <p:cNvPr id="11" name="Text 9"/>
          <p:cNvSpPr/>
          <p:nvPr/>
        </p:nvSpPr>
        <p:spPr>
          <a:xfrm>
            <a:off x="10030097" y="2985516"/>
            <a:ext cx="1691640" cy="1371600"/>
          </a:xfrm>
          <a:prstGeom prst="rect">
            <a:avLst/>
          </a:prstGeom>
          <a:solidFill>
            <a:srgbClr val="172033"/>
          </a:solidFill>
          <a:ln w="15240">
            <a:solidFill>
              <a:srgbClr val="FBBF24"/>
            </a:solidFill>
          </a:ln>
        </p:spPr>
        <p:txBody>
          <a:bodyPr wrap="square" lIns="1016" tIns="1016" rIns="1016" bIns="1016" rtlCol="0" anchor="ctr">
            <a:normAutofit/>
          </a:bodyPr>
          <a:lstStyle/>
          <a:p>
            <a:pPr marL="0" indent="0" algn="ctr">
              <a:buNone/>
            </a:pPr>
            <a:r>
              <a:rPr lang="en-US" sz="1450" b="1">
                <a:solidFill>
                  <a:srgbClr val="F8FAFC"/>
                </a:solidFill>
              </a:rPr>
              <a:t>Netzwerk</a:t>
            </a:r>
            <a:endParaRPr lang="en-US" sz="1450"/>
          </a:p>
          <a:p>
            <a:pPr marL="0" indent="0" algn="ctr">
              <a:buNone/>
            </a:pPr>
            <a:r>
              <a:rPr lang="en-US" sz="1450" b="1">
                <a:solidFill>
                  <a:srgbClr val="F8FAFC"/>
                </a:solidFill>
              </a:rPr>
              <a:t>TCP / JSON</a:t>
            </a:r>
            <a:endParaRPr lang="en-US" sz="1450"/>
          </a:p>
          <a:p>
            <a:pPr marL="0" indent="0" algn="ctr">
              <a:buNone/>
            </a:pPr>
            <a:r>
              <a:rPr lang="en-US" sz="1450" b="1">
                <a:solidFill>
                  <a:srgbClr val="F8FAFC"/>
                </a:solidFill>
              </a:rPr>
              <a:t>Host + Client</a:t>
            </a:r>
            <a:endParaRPr lang="en-US" sz="1450"/>
          </a:p>
        </p:txBody>
      </p:sp>
      <p:sp>
        <p:nvSpPr>
          <p:cNvPr id="25" name="Slide Number Placeholder 0"/>
          <p:cNvSpPr>
            <a:spLocks noGrp="1"/>
          </p:cNvSpPr>
          <p:nvPr>
            <p:ph type="sldNum" sz="quarter" idx="4294967295"/>
          </p:nvPr>
        </p:nvSpPr>
        <p:spPr>
          <a:xfrm>
            <a:off x="11292840" y="642823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94A3B8"/>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84A85-18DA-5927-FB43-A4C51E79B70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91E2022-8D2B-6F50-C26A-4AD907BC910F}"/>
              </a:ext>
            </a:extLst>
          </p:cNvPr>
          <p:cNvSpPr/>
          <p:nvPr/>
        </p:nvSpPr>
        <p:spPr>
          <a:xfrm>
            <a:off x="548640" y="411480"/>
            <a:ext cx="10789920" cy="502920"/>
          </a:xfrm>
          <a:prstGeom prst="rect">
            <a:avLst/>
          </a:prstGeom>
          <a:noFill/>
          <a:ln/>
        </p:spPr>
        <p:txBody>
          <a:bodyPr wrap="square" lIns="0" tIns="0" rIns="0" bIns="0" rtlCol="0" anchor="ctr"/>
          <a:lstStyle/>
          <a:p>
            <a:pPr marL="0" indent="0">
              <a:buNone/>
            </a:pPr>
            <a:r>
              <a:rPr lang="en-US" sz="3000" b="1" err="1">
                <a:solidFill>
                  <a:srgbClr val="F8FAFC"/>
                </a:solidFill>
                <a:latin typeface="Aptos Display" pitchFamily="34" charset="0"/>
                <a:ea typeface="Aptos Display" pitchFamily="34" charset="-122"/>
                <a:cs typeface="Aptos Display" pitchFamily="34" charset="-120"/>
              </a:rPr>
              <a:t>Probleme</a:t>
            </a:r>
            <a:endParaRPr lang="en-US" sz="3000"/>
          </a:p>
        </p:txBody>
      </p:sp>
      <p:sp>
        <p:nvSpPr>
          <p:cNvPr id="3" name="Shape 1">
            <a:extLst>
              <a:ext uri="{FF2B5EF4-FFF2-40B4-BE49-F238E27FC236}">
                <a16:creationId xmlns:a16="http://schemas.microsoft.com/office/drawing/2014/main" id="{9F59B30D-E098-90C6-B924-B10A9EA05B4B}"/>
              </a:ext>
            </a:extLst>
          </p:cNvPr>
          <p:cNvSpPr/>
          <p:nvPr/>
        </p:nvSpPr>
        <p:spPr>
          <a:xfrm>
            <a:off x="548640" y="1024128"/>
            <a:ext cx="1188720" cy="0"/>
          </a:xfrm>
          <a:prstGeom prst="line">
            <a:avLst/>
          </a:prstGeom>
          <a:noFill/>
          <a:ln w="38100">
            <a:solidFill>
              <a:srgbClr val="E11D48"/>
            </a:solidFill>
            <a:prstDash val="solid"/>
          </a:ln>
        </p:spPr>
        <p:txBody>
          <a:bodyPr/>
          <a:lstStyle/>
          <a:p>
            <a:endParaRPr lang="de-AT"/>
          </a:p>
        </p:txBody>
      </p:sp>
      <p:sp>
        <p:nvSpPr>
          <p:cNvPr id="5" name="Text 3">
            <a:extLst>
              <a:ext uri="{FF2B5EF4-FFF2-40B4-BE49-F238E27FC236}">
                <a16:creationId xmlns:a16="http://schemas.microsoft.com/office/drawing/2014/main" id="{3CBD403C-D99D-E1A9-D1DD-9194A4720A52}"/>
              </a:ext>
            </a:extLst>
          </p:cNvPr>
          <p:cNvSpPr/>
          <p:nvPr/>
        </p:nvSpPr>
        <p:spPr>
          <a:xfrm>
            <a:off x="685800" y="1554480"/>
            <a:ext cx="1920240" cy="310896"/>
          </a:xfrm>
          <a:prstGeom prst="rect">
            <a:avLst/>
          </a:prstGeom>
          <a:noFill/>
          <a:ln/>
        </p:spPr>
        <p:txBody>
          <a:bodyPr wrap="square" lIns="0" tIns="0" rIns="0" bIns="0" rtlCol="0" anchor="ctr"/>
          <a:lstStyle/>
          <a:p>
            <a:pPr marL="0" indent="0">
              <a:buNone/>
            </a:pPr>
            <a:r>
              <a:rPr lang="en-US" sz="2000" b="1">
                <a:solidFill>
                  <a:srgbClr val="FB7185"/>
                </a:solidFill>
              </a:rPr>
              <a:t>Problem</a:t>
            </a:r>
            <a:endParaRPr lang="en-US" sz="2000"/>
          </a:p>
        </p:txBody>
      </p:sp>
      <p:sp>
        <p:nvSpPr>
          <p:cNvPr id="6" name="Text 4">
            <a:extLst>
              <a:ext uri="{FF2B5EF4-FFF2-40B4-BE49-F238E27FC236}">
                <a16:creationId xmlns:a16="http://schemas.microsoft.com/office/drawing/2014/main" id="{A93766BE-6895-E4CA-3F40-8235A6C1675C}"/>
              </a:ext>
            </a:extLst>
          </p:cNvPr>
          <p:cNvSpPr/>
          <p:nvPr/>
        </p:nvSpPr>
        <p:spPr>
          <a:xfrm>
            <a:off x="685800" y="1993392"/>
            <a:ext cx="4937760" cy="1325880"/>
          </a:xfrm>
          <a:prstGeom prst="rect">
            <a:avLst/>
          </a:prstGeom>
          <a:noFill/>
          <a:ln/>
        </p:spPr>
        <p:txBody>
          <a:bodyPr wrap="square" lIns="508" tIns="508" rIns="508" bIns="508" rtlCol="0" anchor="ctr">
            <a:normAutofit/>
          </a:bodyPr>
          <a:lstStyle/>
          <a:p>
            <a:pPr marL="0" indent="0">
              <a:buNone/>
            </a:pPr>
            <a:r>
              <a:rPr lang="en-US" sz="1750">
                <a:solidFill>
                  <a:srgbClr val="F8FAFC"/>
                </a:solidFill>
              </a:rPr>
              <a:t>• </a:t>
            </a:r>
            <a:r>
              <a:rPr lang="en-US" sz="1750" err="1">
                <a:solidFill>
                  <a:srgbClr val="F8FAFC"/>
                </a:solidFill>
              </a:rPr>
              <a:t>Klassendriagram</a:t>
            </a:r>
            <a:r>
              <a:rPr lang="en-US" sz="1750">
                <a:solidFill>
                  <a:srgbClr val="F8FAFC"/>
                </a:solidFill>
              </a:rPr>
              <a:t> war nicht so gut</a:t>
            </a:r>
          </a:p>
          <a:p>
            <a:r>
              <a:rPr lang="en-US" sz="1750">
                <a:solidFill>
                  <a:srgbClr val="F8FAFC"/>
                </a:solidFill>
              </a:rPr>
              <a:t>• </a:t>
            </a:r>
            <a:r>
              <a:rPr lang="en-US" sz="1750" err="1">
                <a:solidFill>
                  <a:srgbClr val="F8FAFC"/>
                </a:solidFill>
              </a:rPr>
              <a:t>Probleme</a:t>
            </a:r>
            <a:r>
              <a:rPr lang="en-US" sz="1750">
                <a:solidFill>
                  <a:srgbClr val="F8FAFC"/>
                </a:solidFill>
              </a:rPr>
              <a:t> </a:t>
            </a:r>
            <a:r>
              <a:rPr lang="en-US" sz="1750" err="1">
                <a:solidFill>
                  <a:srgbClr val="F8FAFC"/>
                </a:solidFill>
              </a:rPr>
              <a:t>bei</a:t>
            </a:r>
            <a:r>
              <a:rPr lang="en-US" sz="1750">
                <a:solidFill>
                  <a:srgbClr val="F8FAFC"/>
                </a:solidFill>
              </a:rPr>
              <a:t> der </a:t>
            </a:r>
            <a:r>
              <a:rPr lang="en-US" sz="1750" err="1">
                <a:solidFill>
                  <a:srgbClr val="F8FAFC"/>
                </a:solidFill>
              </a:rPr>
              <a:t>verbindung</a:t>
            </a:r>
            <a:r>
              <a:rPr lang="en-US" sz="1750">
                <a:solidFill>
                  <a:srgbClr val="F8FAFC"/>
                </a:solidFill>
              </a:rPr>
              <a:t> </a:t>
            </a:r>
          </a:p>
          <a:p>
            <a:r>
              <a:rPr lang="en-US" sz="1750">
                <a:solidFill>
                  <a:srgbClr val="F8FAFC"/>
                </a:solidFill>
              </a:rPr>
              <a:t>• </a:t>
            </a:r>
            <a:r>
              <a:rPr lang="en-US" sz="1750" err="1">
                <a:solidFill>
                  <a:srgbClr val="F8FAFC"/>
                </a:solidFill>
              </a:rPr>
              <a:t>Programm</a:t>
            </a:r>
            <a:r>
              <a:rPr lang="en-US" sz="1750">
                <a:solidFill>
                  <a:srgbClr val="F8FAFC"/>
                </a:solidFill>
              </a:rPr>
              <a:t> hat </a:t>
            </a:r>
            <a:r>
              <a:rPr lang="en-US" sz="1750" err="1">
                <a:solidFill>
                  <a:srgbClr val="F8FAFC"/>
                </a:solidFill>
              </a:rPr>
              <a:t>aufgehört</a:t>
            </a:r>
            <a:r>
              <a:rPr lang="en-US" sz="1750">
                <a:solidFill>
                  <a:srgbClr val="F8FAFC"/>
                </a:solidFill>
              </a:rPr>
              <a:t> User </a:t>
            </a:r>
            <a:r>
              <a:rPr lang="en-US" sz="1750" err="1">
                <a:solidFill>
                  <a:srgbClr val="F8FAFC"/>
                </a:solidFill>
              </a:rPr>
              <a:t>zu</a:t>
            </a:r>
            <a:r>
              <a:rPr lang="en-US" sz="1750">
                <a:solidFill>
                  <a:srgbClr val="F8FAFC"/>
                </a:solidFill>
              </a:rPr>
              <a:t> </a:t>
            </a:r>
            <a:r>
              <a:rPr lang="en-US" sz="1750" err="1">
                <a:solidFill>
                  <a:srgbClr val="F8FAFC"/>
                </a:solidFill>
              </a:rPr>
              <a:t>erstellen</a:t>
            </a:r>
            <a:endParaRPr lang="en-US" sz="1750">
              <a:solidFill>
                <a:srgbClr val="F8FAFC"/>
              </a:solidFill>
            </a:endParaRPr>
          </a:p>
          <a:p>
            <a:pPr marL="285750" indent="-285750">
              <a:buFont typeface="Arial" panose="020B0604020202020204" pitchFamily="34" charset="0"/>
              <a:buChar char="•"/>
            </a:pPr>
            <a:endParaRPr lang="en-US" sz="1750">
              <a:solidFill>
                <a:srgbClr val="F8FAFC"/>
              </a:solidFill>
            </a:endParaRPr>
          </a:p>
        </p:txBody>
      </p:sp>
      <p:sp>
        <p:nvSpPr>
          <p:cNvPr id="7" name="Text 5">
            <a:extLst>
              <a:ext uri="{FF2B5EF4-FFF2-40B4-BE49-F238E27FC236}">
                <a16:creationId xmlns:a16="http://schemas.microsoft.com/office/drawing/2014/main" id="{556529C1-F9D6-E81F-8319-4D485C080498}"/>
              </a:ext>
            </a:extLst>
          </p:cNvPr>
          <p:cNvSpPr/>
          <p:nvPr/>
        </p:nvSpPr>
        <p:spPr>
          <a:xfrm>
            <a:off x="685800" y="3767328"/>
            <a:ext cx="1920240" cy="310896"/>
          </a:xfrm>
          <a:prstGeom prst="rect">
            <a:avLst/>
          </a:prstGeom>
          <a:noFill/>
          <a:ln/>
        </p:spPr>
        <p:txBody>
          <a:bodyPr wrap="square" lIns="0" tIns="0" rIns="0" bIns="0" rtlCol="0" anchor="ctr"/>
          <a:lstStyle/>
          <a:p>
            <a:pPr marL="0" indent="0">
              <a:buNone/>
            </a:pPr>
            <a:r>
              <a:rPr lang="en-US" sz="2000" b="1">
                <a:solidFill>
                  <a:srgbClr val="38BDF8"/>
                </a:solidFill>
              </a:rPr>
              <a:t>Lösung</a:t>
            </a:r>
            <a:endParaRPr lang="en-US" sz="2000"/>
          </a:p>
        </p:txBody>
      </p:sp>
      <p:sp>
        <p:nvSpPr>
          <p:cNvPr id="8" name="Text 6">
            <a:extLst>
              <a:ext uri="{FF2B5EF4-FFF2-40B4-BE49-F238E27FC236}">
                <a16:creationId xmlns:a16="http://schemas.microsoft.com/office/drawing/2014/main" id="{B0A3FCB4-B562-215E-FB44-640A532C988C}"/>
              </a:ext>
            </a:extLst>
          </p:cNvPr>
          <p:cNvSpPr/>
          <p:nvPr/>
        </p:nvSpPr>
        <p:spPr>
          <a:xfrm>
            <a:off x="685800" y="4206240"/>
            <a:ext cx="4937760" cy="1325880"/>
          </a:xfrm>
          <a:prstGeom prst="rect">
            <a:avLst/>
          </a:prstGeom>
          <a:noFill/>
          <a:ln/>
        </p:spPr>
        <p:txBody>
          <a:bodyPr wrap="square" lIns="508" tIns="508" rIns="508" bIns="508" rtlCol="0" anchor="ctr">
            <a:normAutofit/>
          </a:bodyPr>
          <a:lstStyle/>
          <a:p>
            <a:pPr marL="0" indent="0">
              <a:buNone/>
            </a:pPr>
            <a:r>
              <a:rPr lang="en-US" sz="1750">
                <a:solidFill>
                  <a:srgbClr val="F8FAFC"/>
                </a:solidFill>
              </a:rPr>
              <a:t>• </a:t>
            </a:r>
            <a:r>
              <a:rPr lang="en-US" sz="1750" err="1">
                <a:solidFill>
                  <a:srgbClr val="F8FAFC"/>
                </a:solidFill>
              </a:rPr>
              <a:t>Zusammen</a:t>
            </a:r>
            <a:r>
              <a:rPr lang="en-US" sz="1750">
                <a:solidFill>
                  <a:srgbClr val="F8FAFC"/>
                </a:solidFill>
              </a:rPr>
              <a:t> </a:t>
            </a:r>
            <a:r>
              <a:rPr lang="en-US" sz="1750" err="1">
                <a:solidFill>
                  <a:srgbClr val="F8FAFC"/>
                </a:solidFill>
              </a:rPr>
              <a:t>daran</a:t>
            </a:r>
            <a:r>
              <a:rPr lang="en-US" sz="1750">
                <a:solidFill>
                  <a:srgbClr val="F8FAFC"/>
                </a:solidFill>
              </a:rPr>
              <a:t> </a:t>
            </a:r>
            <a:r>
              <a:rPr lang="en-US" sz="1750" err="1">
                <a:solidFill>
                  <a:srgbClr val="F8FAFC"/>
                </a:solidFill>
              </a:rPr>
              <a:t>gearbeitet</a:t>
            </a:r>
            <a:r>
              <a:rPr lang="en-US" sz="1750">
                <a:solidFill>
                  <a:srgbClr val="F8FAFC"/>
                </a:solidFill>
              </a:rPr>
              <a:t> </a:t>
            </a:r>
          </a:p>
          <a:p>
            <a:r>
              <a:rPr lang="en-US" sz="1750">
                <a:solidFill>
                  <a:srgbClr val="F8FAFC"/>
                </a:solidFill>
              </a:rPr>
              <a:t>• </a:t>
            </a:r>
            <a:r>
              <a:rPr lang="en-US" sz="1750" err="1">
                <a:solidFill>
                  <a:srgbClr val="F8FAFC"/>
                </a:solidFill>
              </a:rPr>
              <a:t>Verbindung</a:t>
            </a:r>
            <a:r>
              <a:rPr lang="en-US" sz="1750">
                <a:solidFill>
                  <a:srgbClr val="F8FAFC"/>
                </a:solidFill>
              </a:rPr>
              <a:t> für swipes und filter </a:t>
            </a:r>
          </a:p>
          <a:p>
            <a:r>
              <a:rPr lang="en-US" sz="1750">
                <a:solidFill>
                  <a:srgbClr val="F8FAFC"/>
                </a:solidFill>
              </a:rPr>
              <a:t>• Alte version von Lobby-</a:t>
            </a:r>
            <a:r>
              <a:rPr lang="en-US" sz="1750" err="1">
                <a:solidFill>
                  <a:srgbClr val="F8FAFC"/>
                </a:solidFill>
              </a:rPr>
              <a:t>contoller</a:t>
            </a:r>
            <a:endParaRPr lang="en-US" sz="1750"/>
          </a:p>
        </p:txBody>
      </p:sp>
      <p:sp>
        <p:nvSpPr>
          <p:cNvPr id="25" name="Slide Number Placeholder 0">
            <a:extLst>
              <a:ext uri="{FF2B5EF4-FFF2-40B4-BE49-F238E27FC236}">
                <a16:creationId xmlns:a16="http://schemas.microsoft.com/office/drawing/2014/main" id="{A45E78CC-0F94-170C-6CE3-FADEAF383DEB}"/>
              </a:ext>
            </a:extLst>
          </p:cNvPr>
          <p:cNvSpPr>
            <a:spLocks noGrp="1"/>
          </p:cNvSpPr>
          <p:nvPr>
            <p:ph type="sldNum" sz="quarter" idx="4294967295"/>
          </p:nvPr>
        </p:nvSpPr>
        <p:spPr>
          <a:xfrm>
            <a:off x="11292840" y="642823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94A3B8"/>
                </a:solidFill>
              </a:defRPr>
            </a:lvl1pPr>
          </a:lstStyle>
          <a:p>
            <a:pPr algn="l"/>
            <a:fld id="{F7021451-1387-4CA6-816F-3879F97B5CBC}" type="slidenum">
              <a:rPr lang="en-US" b="0"/>
              <a:t>6</a:t>
            </a:fld>
            <a:endParaRPr lang="en-US"/>
          </a:p>
        </p:txBody>
      </p:sp>
    </p:spTree>
    <p:extLst>
      <p:ext uri="{BB962C8B-B14F-4D97-AF65-F5344CB8AC3E}">
        <p14:creationId xmlns:p14="http://schemas.microsoft.com/office/powerpoint/2010/main" val="3661868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411480"/>
            <a:ext cx="10789920" cy="502920"/>
          </a:xfrm>
          <a:prstGeom prst="rect">
            <a:avLst/>
          </a:prstGeom>
          <a:noFill/>
          <a:ln/>
        </p:spPr>
        <p:txBody>
          <a:bodyPr wrap="square" lIns="0" tIns="0" rIns="0" bIns="0" rtlCol="0" anchor="ctr"/>
          <a:lstStyle/>
          <a:p>
            <a:pPr marL="0" indent="0">
              <a:buNone/>
            </a:pPr>
            <a:r>
              <a:rPr lang="en-US" sz="3000" b="1">
                <a:solidFill>
                  <a:srgbClr val="F8FAFC"/>
                </a:solidFill>
                <a:latin typeface="Aptos Display" pitchFamily="34" charset="0"/>
                <a:ea typeface="Aptos Display" pitchFamily="34" charset="-122"/>
                <a:cs typeface="Aptos Display" pitchFamily="34" charset="-120"/>
              </a:rPr>
              <a:t>Aufgabenverteilung</a:t>
            </a:r>
            <a:endParaRPr lang="en-US" sz="3000"/>
          </a:p>
        </p:txBody>
      </p:sp>
      <p:sp>
        <p:nvSpPr>
          <p:cNvPr id="3" name="Shape 1"/>
          <p:cNvSpPr/>
          <p:nvPr/>
        </p:nvSpPr>
        <p:spPr>
          <a:xfrm>
            <a:off x="548640" y="1024128"/>
            <a:ext cx="1188720" cy="0"/>
          </a:xfrm>
          <a:prstGeom prst="line">
            <a:avLst/>
          </a:prstGeom>
          <a:noFill/>
          <a:ln w="38100">
            <a:solidFill>
              <a:srgbClr val="E11D48"/>
            </a:solidFill>
            <a:prstDash val="solid"/>
          </a:ln>
        </p:spPr>
        <p:txBody>
          <a:bodyPr/>
          <a:lstStyle/>
          <a:p>
            <a:endParaRPr lang="de-AT"/>
          </a:p>
        </p:txBody>
      </p:sp>
      <p:sp>
        <p:nvSpPr>
          <p:cNvPr id="5" name="Text 3"/>
          <p:cNvSpPr/>
          <p:nvPr/>
        </p:nvSpPr>
        <p:spPr>
          <a:xfrm>
            <a:off x="822960" y="1508760"/>
            <a:ext cx="4846320" cy="347472"/>
          </a:xfrm>
          <a:prstGeom prst="rect">
            <a:avLst/>
          </a:prstGeom>
          <a:noFill/>
          <a:ln/>
        </p:spPr>
        <p:txBody>
          <a:bodyPr wrap="square" lIns="0" tIns="0" rIns="0" bIns="0" rtlCol="0" anchor="ctr"/>
          <a:lstStyle/>
          <a:p>
            <a:pPr marL="0" indent="0">
              <a:buNone/>
            </a:pPr>
            <a:r>
              <a:rPr lang="en-US" sz="2200" b="1">
                <a:solidFill>
                  <a:srgbClr val="F8FAFC"/>
                </a:solidFill>
              </a:rPr>
              <a:t>Mero</a:t>
            </a:r>
          </a:p>
        </p:txBody>
      </p:sp>
      <p:sp>
        <p:nvSpPr>
          <p:cNvPr id="6" name="Text 4"/>
          <p:cNvSpPr/>
          <p:nvPr/>
        </p:nvSpPr>
        <p:spPr>
          <a:xfrm>
            <a:off x="6400800" y="1508760"/>
            <a:ext cx="4846320" cy="347472"/>
          </a:xfrm>
          <a:prstGeom prst="rect">
            <a:avLst/>
          </a:prstGeom>
          <a:noFill/>
          <a:ln/>
        </p:spPr>
        <p:txBody>
          <a:bodyPr wrap="square" lIns="0" tIns="0" rIns="0" bIns="0" rtlCol="0" anchor="ctr"/>
          <a:lstStyle/>
          <a:p>
            <a:pPr marL="0" indent="0">
              <a:buNone/>
            </a:pPr>
            <a:r>
              <a:rPr lang="en-US" sz="2200" b="1">
                <a:solidFill>
                  <a:srgbClr val="F8FAFC"/>
                </a:solidFill>
              </a:rPr>
              <a:t>Jakob</a:t>
            </a:r>
            <a:endParaRPr lang="en-US" sz="2200"/>
          </a:p>
        </p:txBody>
      </p:sp>
      <p:sp>
        <p:nvSpPr>
          <p:cNvPr id="7" name="Text 5"/>
          <p:cNvSpPr/>
          <p:nvPr/>
        </p:nvSpPr>
        <p:spPr>
          <a:xfrm>
            <a:off x="822960" y="2011680"/>
            <a:ext cx="4892040" cy="3383280"/>
          </a:xfrm>
          <a:prstGeom prst="rect">
            <a:avLst/>
          </a:prstGeom>
          <a:solidFill>
            <a:srgbClr val="FFF7ED"/>
          </a:solidFill>
          <a:ln w="15240">
            <a:solidFill>
              <a:srgbClr val="FB923C"/>
            </a:solidFill>
          </a:ln>
        </p:spPr>
        <p:txBody>
          <a:bodyPr wrap="square" lIns="1524" tIns="1524" rIns="1524" bIns="1524" rtlCol="0" anchor="ctr">
            <a:normAutofit/>
          </a:bodyPr>
          <a:lstStyle/>
          <a:p>
            <a:pPr marL="285750" indent="-285750">
              <a:buFont typeface="Arial" panose="020B0604020202020204" pitchFamily="34" charset="0"/>
              <a:buChar char="•"/>
            </a:pPr>
            <a:r>
              <a:rPr lang="en-US" sz="1600" err="1">
                <a:solidFill>
                  <a:srgbClr val="7C2D12"/>
                </a:solidFill>
              </a:rPr>
              <a:t>Daten</a:t>
            </a:r>
            <a:r>
              <a:rPr lang="en-US" sz="1600">
                <a:solidFill>
                  <a:srgbClr val="7C2D12"/>
                </a:solidFill>
              </a:rPr>
              <a:t> </a:t>
            </a:r>
            <a:r>
              <a:rPr lang="en-US" sz="1600" err="1">
                <a:solidFill>
                  <a:srgbClr val="7C2D12"/>
                </a:solidFill>
              </a:rPr>
              <a:t>übertragung</a:t>
            </a:r>
            <a:endParaRPr lang="en-US" sz="1600">
              <a:solidFill>
                <a:srgbClr val="7C2D12"/>
              </a:solidFill>
            </a:endParaRPr>
          </a:p>
          <a:p>
            <a:pPr marL="285750" indent="-285750">
              <a:buFont typeface="Arial" panose="020B0604020202020204" pitchFamily="34" charset="0"/>
              <a:buChar char="•"/>
            </a:pPr>
            <a:r>
              <a:rPr lang="en-US" sz="1600" err="1">
                <a:solidFill>
                  <a:srgbClr val="7C2D12"/>
                </a:solidFill>
              </a:rPr>
              <a:t>Verbindung</a:t>
            </a:r>
            <a:r>
              <a:rPr lang="en-US" sz="1600">
                <a:solidFill>
                  <a:srgbClr val="7C2D12"/>
                </a:solidFill>
              </a:rPr>
              <a:t> </a:t>
            </a:r>
            <a:r>
              <a:rPr lang="en-US" sz="1600" err="1">
                <a:solidFill>
                  <a:srgbClr val="7C2D12"/>
                </a:solidFill>
              </a:rPr>
              <a:t>zwischen</a:t>
            </a:r>
            <a:r>
              <a:rPr lang="en-US" sz="1600">
                <a:solidFill>
                  <a:srgbClr val="7C2D12"/>
                </a:solidFill>
              </a:rPr>
              <a:t> Laptops</a:t>
            </a:r>
          </a:p>
          <a:p>
            <a:pPr marL="285750" indent="-285750">
              <a:buFont typeface="Arial" panose="020B0604020202020204" pitchFamily="34" charset="0"/>
              <a:buChar char="•"/>
            </a:pPr>
            <a:r>
              <a:rPr lang="en-US" sz="1600">
                <a:solidFill>
                  <a:srgbClr val="7C2D12"/>
                </a:solidFill>
              </a:rPr>
              <a:t>Controller</a:t>
            </a:r>
          </a:p>
          <a:p>
            <a:pPr marL="285750" indent="-285750">
              <a:buFont typeface="Arial" panose="020B0604020202020204" pitchFamily="34" charset="0"/>
              <a:buChar char="•"/>
            </a:pPr>
            <a:r>
              <a:rPr lang="en-US" sz="1600">
                <a:solidFill>
                  <a:srgbClr val="7C2D12"/>
                </a:solidFill>
              </a:rPr>
              <a:t>Tests</a:t>
            </a:r>
          </a:p>
          <a:p>
            <a:pPr marL="285750" indent="-285750">
              <a:buFont typeface="Arial" panose="020B0604020202020204" pitchFamily="34" charset="0"/>
              <a:buChar char="•"/>
            </a:pPr>
            <a:r>
              <a:rPr lang="en-US" sz="1600" err="1">
                <a:solidFill>
                  <a:srgbClr val="7C2D12"/>
                </a:solidFill>
              </a:rPr>
              <a:t>Methoden</a:t>
            </a:r>
            <a:r>
              <a:rPr lang="en-US" sz="1600">
                <a:solidFill>
                  <a:srgbClr val="7C2D12"/>
                </a:solidFill>
              </a:rPr>
              <a:t> für die </a:t>
            </a:r>
            <a:r>
              <a:rPr lang="en-US" sz="1600" err="1">
                <a:solidFill>
                  <a:srgbClr val="7C2D12"/>
                </a:solidFill>
              </a:rPr>
              <a:t>anbindung</a:t>
            </a:r>
            <a:r>
              <a:rPr lang="en-US" sz="1600">
                <a:solidFill>
                  <a:srgbClr val="7C2D12"/>
                </a:solidFill>
              </a:rPr>
              <a:t> </a:t>
            </a:r>
          </a:p>
          <a:p>
            <a:pPr marL="285750" indent="-285750">
              <a:buFont typeface="Arial" panose="020B0604020202020204" pitchFamily="34" charset="0"/>
              <a:buChar char="•"/>
            </a:pPr>
            <a:endParaRPr lang="en-US" sz="1600">
              <a:solidFill>
                <a:srgbClr val="7C2D12"/>
              </a:solidFill>
            </a:endParaRPr>
          </a:p>
        </p:txBody>
      </p:sp>
      <p:sp>
        <p:nvSpPr>
          <p:cNvPr id="8" name="Text 6"/>
          <p:cNvSpPr/>
          <p:nvPr/>
        </p:nvSpPr>
        <p:spPr>
          <a:xfrm>
            <a:off x="6400800" y="2011680"/>
            <a:ext cx="4892040" cy="3383280"/>
          </a:xfrm>
          <a:prstGeom prst="rect">
            <a:avLst/>
          </a:prstGeom>
          <a:solidFill>
            <a:srgbClr val="FFF7ED"/>
          </a:solidFill>
          <a:ln w="15240">
            <a:solidFill>
              <a:srgbClr val="FB923C"/>
            </a:solidFill>
          </a:ln>
        </p:spPr>
        <p:txBody>
          <a:bodyPr wrap="square" lIns="1524" tIns="1524" rIns="1524" bIns="1524" rtlCol="0" anchor="ctr">
            <a:normAutofit/>
          </a:bodyPr>
          <a:lstStyle/>
          <a:p>
            <a:endParaRPr lang="en-US" sz="1600">
              <a:solidFill>
                <a:srgbClr val="7C2D12"/>
              </a:solidFill>
            </a:endParaRPr>
          </a:p>
          <a:p>
            <a:pPr marL="285750" indent="-285750">
              <a:buFont typeface="Arial"/>
              <a:buChar char="•"/>
            </a:pPr>
            <a:r>
              <a:rPr lang="en-US" sz="1600">
                <a:solidFill>
                  <a:srgbClr val="7C2D12"/>
                </a:solidFill>
              </a:rPr>
              <a:t>Die </a:t>
            </a:r>
            <a:r>
              <a:rPr lang="en-US" sz="1600" err="1">
                <a:solidFill>
                  <a:srgbClr val="7C2D12"/>
                </a:solidFill>
              </a:rPr>
              <a:t>ganze</a:t>
            </a:r>
            <a:r>
              <a:rPr lang="en-US" sz="1600">
                <a:solidFill>
                  <a:srgbClr val="7C2D12"/>
                </a:solidFill>
              </a:rPr>
              <a:t> swipe </a:t>
            </a:r>
            <a:r>
              <a:rPr lang="en-US" sz="1600" err="1">
                <a:solidFill>
                  <a:srgbClr val="7C2D12"/>
                </a:solidFill>
              </a:rPr>
              <a:t>logik</a:t>
            </a:r>
            <a:r>
              <a:rPr lang="en-US" sz="1600">
                <a:solidFill>
                  <a:srgbClr val="7C2D12"/>
                </a:solidFill>
              </a:rPr>
              <a:t> </a:t>
            </a:r>
            <a:r>
              <a:rPr lang="en-US" sz="1600" err="1">
                <a:solidFill>
                  <a:srgbClr val="7C2D12"/>
                </a:solidFill>
              </a:rPr>
              <a:t>mit</a:t>
            </a:r>
            <a:r>
              <a:rPr lang="en-US" sz="1600">
                <a:solidFill>
                  <a:srgbClr val="7C2D12"/>
                </a:solidFill>
              </a:rPr>
              <a:t> Filter &amp; </a:t>
            </a:r>
            <a:r>
              <a:rPr lang="en-US" sz="1600" err="1">
                <a:solidFill>
                  <a:srgbClr val="7C2D12"/>
                </a:solidFill>
              </a:rPr>
              <a:t>Anbindung</a:t>
            </a:r>
            <a:r>
              <a:rPr lang="en-US" sz="1600">
                <a:solidFill>
                  <a:srgbClr val="7C2D12"/>
                </a:solidFill>
              </a:rPr>
              <a:t> an UI</a:t>
            </a:r>
          </a:p>
          <a:p>
            <a:pPr marL="285750" indent="-285750">
              <a:buFont typeface="Arial"/>
              <a:buChar char="•"/>
            </a:pPr>
            <a:r>
              <a:rPr lang="en-US" sz="1600">
                <a:solidFill>
                  <a:srgbClr val="7C2D12"/>
                </a:solidFill>
              </a:rPr>
              <a:t>Ganze UI </a:t>
            </a:r>
          </a:p>
          <a:p>
            <a:pPr marL="285750" indent="-285750">
              <a:buFont typeface="Arial"/>
              <a:buChar char="•"/>
            </a:pPr>
            <a:r>
              <a:rPr lang="en-US" sz="1600" err="1">
                <a:solidFill>
                  <a:srgbClr val="7C2D12"/>
                </a:solidFill>
              </a:rPr>
              <a:t>Ergebniss</a:t>
            </a:r>
            <a:r>
              <a:rPr lang="en-US" sz="1600">
                <a:solidFill>
                  <a:srgbClr val="7C2D12"/>
                </a:solidFill>
              </a:rPr>
              <a:t> Logik</a:t>
            </a:r>
          </a:p>
          <a:p>
            <a:pPr marL="285750" indent="-285750">
              <a:buFont typeface="Arial"/>
              <a:buChar char="•"/>
            </a:pPr>
            <a:r>
              <a:rPr lang="en-US" sz="1600">
                <a:solidFill>
                  <a:srgbClr val="7C2D12"/>
                </a:solidFill>
              </a:rPr>
              <a:t>DBI und POS </a:t>
            </a:r>
            <a:r>
              <a:rPr lang="en-US" sz="1600" err="1">
                <a:solidFill>
                  <a:srgbClr val="7C2D12"/>
                </a:solidFill>
              </a:rPr>
              <a:t>Anbindung</a:t>
            </a:r>
            <a:endParaRPr lang="en-US" sz="1600">
              <a:solidFill>
                <a:srgbClr val="7C2D12"/>
              </a:solidFill>
            </a:endParaRPr>
          </a:p>
          <a:p>
            <a:pPr marL="285750" indent="-285750">
              <a:buFont typeface="Arial"/>
              <a:buChar char="•"/>
            </a:pPr>
            <a:r>
              <a:rPr lang="en-US" sz="1600">
                <a:solidFill>
                  <a:srgbClr val="7C2D12"/>
                </a:solidFill>
              </a:rPr>
              <a:t>simples logging </a:t>
            </a:r>
          </a:p>
          <a:p>
            <a:pPr marL="285750" indent="-285750">
              <a:buFont typeface="Arial"/>
              <a:buChar char="•"/>
            </a:pPr>
            <a:r>
              <a:rPr lang="en-US" sz="1600">
                <a:solidFill>
                  <a:srgbClr val="7C2D12"/>
                </a:solidFill>
              </a:rPr>
              <a:t>Simples Interface</a:t>
            </a:r>
            <a:endParaRPr lang="en-US" sz="1600">
              <a:solidFill>
                <a:srgbClr val="000000"/>
              </a:solidFill>
            </a:endParaRPr>
          </a:p>
          <a:p>
            <a:endParaRPr lang="en-US" sz="1250">
              <a:solidFill>
                <a:srgbClr val="7C2D12"/>
              </a:solidFill>
            </a:endParaRPr>
          </a:p>
        </p:txBody>
      </p:sp>
      <p:sp>
        <p:nvSpPr>
          <p:cNvPr id="25" name="Slide Number Placeholder 0"/>
          <p:cNvSpPr>
            <a:spLocks noGrp="1"/>
          </p:cNvSpPr>
          <p:nvPr>
            <p:ph type="sldNum" sz="quarter" idx="4294967295"/>
          </p:nvPr>
        </p:nvSpPr>
        <p:spPr>
          <a:xfrm>
            <a:off x="11292840" y="642823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94A3B8"/>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606040"/>
            <a:ext cx="10789920" cy="822960"/>
          </a:xfrm>
          <a:prstGeom prst="rect">
            <a:avLst/>
          </a:prstGeom>
          <a:noFill/>
          <a:ln/>
        </p:spPr>
        <p:txBody>
          <a:bodyPr wrap="square" lIns="0" tIns="0" rIns="0" bIns="0" rtlCol="0" anchor="ctr"/>
          <a:lstStyle/>
          <a:p>
            <a:pPr marL="0" indent="0" algn="ctr">
              <a:buNone/>
            </a:pPr>
            <a:r>
              <a:rPr lang="en-US" sz="5600" b="1">
                <a:solidFill>
                  <a:srgbClr val="F8FAFC"/>
                </a:solidFill>
                <a:latin typeface="Aptos Display" pitchFamily="34" charset="0"/>
                <a:ea typeface="Aptos Display" pitchFamily="34" charset="-122"/>
                <a:cs typeface="Aptos Display" pitchFamily="34" charset="-120"/>
              </a:rPr>
              <a:t>DEMO</a:t>
            </a:r>
            <a:endParaRPr lang="en-US" sz="5600"/>
          </a:p>
        </p:txBody>
      </p:sp>
      <p:sp>
        <p:nvSpPr>
          <p:cNvPr id="3" name="Shape 1"/>
          <p:cNvSpPr/>
          <p:nvPr/>
        </p:nvSpPr>
        <p:spPr>
          <a:xfrm>
            <a:off x="4754880" y="3611880"/>
            <a:ext cx="2194560" cy="0"/>
          </a:xfrm>
          <a:prstGeom prst="line">
            <a:avLst/>
          </a:prstGeom>
          <a:noFill/>
          <a:ln w="50800">
            <a:solidFill>
              <a:srgbClr val="E11D48"/>
            </a:solidFill>
            <a:prstDash val="solid"/>
          </a:ln>
        </p:spPr>
        <p:txBody>
          <a:bodyPr/>
          <a:lstStyle/>
          <a:p>
            <a:endParaRPr lang="de-AT"/>
          </a:p>
        </p:txBody>
      </p:sp>
      <p:sp>
        <p:nvSpPr>
          <p:cNvPr id="25" name="Slide Number Placeholder 0"/>
          <p:cNvSpPr>
            <a:spLocks noGrp="1"/>
          </p:cNvSpPr>
          <p:nvPr>
            <p:ph type="sldNum" sz="quarter" idx="4294967295"/>
          </p:nvPr>
        </p:nvSpPr>
        <p:spPr>
          <a:xfrm>
            <a:off x="11292840" y="642823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94A3B8"/>
                </a:solidFill>
              </a:defRPr>
            </a:lvl1pPr>
          </a:lstStyle>
          <a:p>
            <a:pPr algn="l"/>
            <a:fld id="{F7021451-1387-4CA6-816F-3879F97B5CBC}" type="slidenum">
              <a:rPr lang="en-US" b="0"/>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A54AF722727C184484C8E7065C59A78B" ma:contentTypeVersion="0" ma:contentTypeDescription="Ein neues Dokument erstellen." ma:contentTypeScope="" ma:versionID="c7a71737b86a961ff4753bbb06554044">
  <xsd:schema xmlns:xsd="http://www.w3.org/2001/XMLSchema" xmlns:xs="http://www.w3.org/2001/XMLSchema" xmlns:p="http://schemas.microsoft.com/office/2006/metadata/properties" targetNamespace="http://schemas.microsoft.com/office/2006/metadata/properties" ma:root="true" ma:fieldsID="df7b5bc1abea3a6eee9d75eaf0ff079b">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E48E09D-ADB4-48AE-BDD3-01DEF5145946}"/>
</file>

<file path=customXml/itemProps2.xml><?xml version="1.0" encoding="utf-8"?>
<ds:datastoreItem xmlns:ds="http://schemas.openxmlformats.org/officeDocument/2006/customXml" ds:itemID="{01D30088-21E9-4F49-9896-62BA0167CED1}"/>
</file>

<file path=customXml/itemProps3.xml><?xml version="1.0" encoding="utf-8"?>
<ds:datastoreItem xmlns:ds="http://schemas.openxmlformats.org/officeDocument/2006/customXml" ds:itemID="{19D1075D-7663-4E02-BADA-06C41E03C7DF}"/>
</file>

<file path=docProps/app.xml><?xml version="1.0" encoding="utf-8"?>
<Properties xmlns="http://schemas.openxmlformats.org/officeDocument/2006/extended-properties" xmlns:vt="http://schemas.openxmlformats.org/officeDocument/2006/docPropsVTypes">
  <TotalTime>0</TotalTime>
  <Words>558</Words>
  <Application>Microsoft Office PowerPoint</Application>
  <PresentationFormat>Breitbild</PresentationFormat>
  <Paragraphs>107</Paragraphs>
  <Slides>8</Slides>
  <Notes>8</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8</vt:i4>
      </vt:variant>
    </vt:vector>
  </HeadingPairs>
  <TitlesOfParts>
    <vt:vector size="12" baseType="lpstr">
      <vt:lpstr>Aptos</vt:lpstr>
      <vt:lpstr>Aptos Display</vt:lpstr>
      <vt:lpstr>Arial</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HTL Rankweil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Finnldy – Projektpräsentation</dc:title>
  <dc:subject>Finnldy POS+DBI Projektpräsentation</dc:subject>
  <dc:creator>OpenAI</dc:creator>
  <cp:lastModifiedBy>Muhammet Altuntas</cp:lastModifiedBy>
  <cp:revision>2</cp:revision>
  <dcterms:created xsi:type="dcterms:W3CDTF">2026-06-16T19:09:10Z</dcterms:created>
  <dcterms:modified xsi:type="dcterms:W3CDTF">2026-06-17T06:02:50Z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0x010100A54AF722727C184484C8E7065C59A78B</vt:lpwstr>
  </property>
</Properties>
</file>